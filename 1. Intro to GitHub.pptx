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3" r:id="rId4"/>
  </p:sldMasterIdLst>
  <p:notesMasterIdLst>
    <p:notesMasterId r:id="rId19"/>
  </p:notesMasterIdLst>
  <p:handoutMasterIdLst>
    <p:handoutMasterId r:id="rId20"/>
  </p:handoutMasterIdLst>
  <p:sldIdLst>
    <p:sldId id="1923" r:id="rId5"/>
    <p:sldId id="1947" r:id="rId6"/>
    <p:sldId id="1946" r:id="rId7"/>
    <p:sldId id="1960" r:id="rId8"/>
    <p:sldId id="1958" r:id="rId9"/>
    <p:sldId id="1948" r:id="rId10"/>
    <p:sldId id="1959" r:id="rId11"/>
    <p:sldId id="1951" r:id="rId12"/>
    <p:sldId id="1952" r:id="rId13"/>
    <p:sldId id="1953" r:id="rId14"/>
    <p:sldId id="1955" r:id="rId15"/>
    <p:sldId id="1956" r:id="rId16"/>
    <p:sldId id="1954" r:id="rId17"/>
    <p:sldId id="19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FB87847-F406-7444-FA76-41D84EC4A2DE}" name="POTTAGE, Christopher (NHS ENGLAND - X24)" initials="CP" userId="S::c.pottage@nhs.net::82606d47-b176-4ab0-a436-ba804ffa9f8a" providerId="AD"/>
  <p188:author id="{A7EADA63-EDB5-2190-2E40-4B74C5B6736F}" name="BLINCKO, Sarah (NHS ENGLAND - X24)" initials="SB" userId="S::sarah.blincko1@nhs.net::dd26e808-a766-485b-886c-5159454dd072" providerId="AD"/>
  <p188:author id="{5A95E7B1-25A8-F024-8874-B2AA140EBF12}" name="HAACKE, Edmund (NHS ENGLAND - X24)" initials="EH" userId="S::edmund.haacke@nhs.net::9752cce9-5933-4dd4-a5b9-b8dcd4a870fb" providerId="AD"/>
  <p188:author id="{475F94FD-8EBD-4FDF-1D3F-F2645AA08D82}" name="HOOK, Tom (NHS ENGLAND)" initials="HE" userId="S::tom.hook2@nhs.net::3a6c974b-d64a-4398-91e6-9e5e306404b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h Wilkinson" initials="SW" lastIdx="1" clrIdx="0">
    <p:extLst>
      <p:ext uri="{19B8F6BF-5375-455C-9EA6-DF929625EA0E}">
        <p15:presenceInfo xmlns:p15="http://schemas.microsoft.com/office/powerpoint/2012/main" userId="1186059c3be801a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A0A0"/>
    <a:srgbClr val="A1B8E1"/>
    <a:srgbClr val="DDE1E4"/>
    <a:srgbClr val="425563"/>
    <a:srgbClr val="F6F8F8"/>
    <a:srgbClr val="80D2CC"/>
    <a:srgbClr val="99DBD6"/>
    <a:srgbClr val="99DDEB"/>
    <a:srgbClr val="80D4E7"/>
    <a:srgbClr val="005E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4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INCKO, Sarah (NHS ENGLAND)" userId="dd26e808-a766-485b-886c-5159454dd072" providerId="ADAL" clId="{3F87E013-0E27-473E-BFA9-1A515C100D53}"/>
    <pc:docChg chg="undo custSel modSld">
      <pc:chgData name="BLINCKO, Sarah (NHS ENGLAND)" userId="dd26e808-a766-485b-886c-5159454dd072" providerId="ADAL" clId="{3F87E013-0E27-473E-BFA9-1A515C100D53}" dt="2025-11-07T13:48:41.355" v="484" actId="20577"/>
      <pc:docMkLst>
        <pc:docMk/>
      </pc:docMkLst>
      <pc:sldChg chg="modSp mod">
        <pc:chgData name="BLINCKO, Sarah (NHS ENGLAND)" userId="dd26e808-a766-485b-886c-5159454dd072" providerId="ADAL" clId="{3F87E013-0E27-473E-BFA9-1A515C100D53}" dt="2025-11-07T13:48:41.355" v="484" actId="20577"/>
        <pc:sldMkLst>
          <pc:docMk/>
          <pc:sldMk cId="1812346390" sldId="1954"/>
        </pc:sldMkLst>
        <pc:spChg chg="mod">
          <ac:chgData name="BLINCKO, Sarah (NHS ENGLAND)" userId="dd26e808-a766-485b-886c-5159454dd072" providerId="ADAL" clId="{3F87E013-0E27-473E-BFA9-1A515C100D53}" dt="2025-11-07T13:48:41.355" v="484" actId="20577"/>
          <ac:spMkLst>
            <pc:docMk/>
            <pc:sldMk cId="1812346390" sldId="1954"/>
            <ac:spMk id="2" creationId="{7706214B-A5BF-5F5D-C984-F62087BE06C1}"/>
          </ac:spMkLst>
        </pc:spChg>
      </pc:sldChg>
      <pc:sldChg chg="modSp modAnim">
        <pc:chgData name="BLINCKO, Sarah (NHS ENGLAND)" userId="dd26e808-a766-485b-886c-5159454dd072" providerId="ADAL" clId="{3F87E013-0E27-473E-BFA9-1A515C100D53}" dt="2025-11-07T13:38:40.658" v="146" actId="5793"/>
        <pc:sldMkLst>
          <pc:docMk/>
          <pc:sldMk cId="2618860459" sldId="1955"/>
        </pc:sldMkLst>
        <pc:spChg chg="mod">
          <ac:chgData name="BLINCKO, Sarah (NHS ENGLAND)" userId="dd26e808-a766-485b-886c-5159454dd072" providerId="ADAL" clId="{3F87E013-0E27-473E-BFA9-1A515C100D53}" dt="2025-11-07T13:38:40.658" v="146" actId="5793"/>
          <ac:spMkLst>
            <pc:docMk/>
            <pc:sldMk cId="2618860459" sldId="1955"/>
            <ac:spMk id="2" creationId="{E0E421DF-B909-F6FD-FCD0-6EBFA755171C}"/>
          </ac:spMkLst>
        </pc:spChg>
      </pc:sldChg>
      <pc:sldChg chg="delSp modSp mod delAnim modAnim">
        <pc:chgData name="BLINCKO, Sarah (NHS ENGLAND)" userId="dd26e808-a766-485b-886c-5159454dd072" providerId="ADAL" clId="{3F87E013-0E27-473E-BFA9-1A515C100D53}" dt="2025-11-07T11:45:40.229" v="144" actId="20577"/>
        <pc:sldMkLst>
          <pc:docMk/>
          <pc:sldMk cId="887344704" sldId="1958"/>
        </pc:sldMkLst>
        <pc:spChg chg="mod">
          <ac:chgData name="BLINCKO, Sarah (NHS ENGLAND)" userId="dd26e808-a766-485b-886c-5159454dd072" providerId="ADAL" clId="{3F87E013-0E27-473E-BFA9-1A515C100D53}" dt="2025-11-07T11:45:40.229" v="144" actId="20577"/>
          <ac:spMkLst>
            <pc:docMk/>
            <pc:sldMk cId="887344704" sldId="1958"/>
            <ac:spMk id="2" creationId="{B4A6F136-ACD4-C0E0-D10E-77CAB185086C}"/>
          </ac:spMkLst>
        </pc:spChg>
        <pc:picChg chg="mod">
          <ac:chgData name="BLINCKO, Sarah (NHS ENGLAND)" userId="dd26e808-a766-485b-886c-5159454dd072" providerId="ADAL" clId="{3F87E013-0E27-473E-BFA9-1A515C100D53}" dt="2025-11-07T11:45:12.545" v="110" actId="1076"/>
          <ac:picMkLst>
            <pc:docMk/>
            <pc:sldMk cId="887344704" sldId="1958"/>
            <ac:picMk id="9" creationId="{878DEAD3-BF1D-7993-26CD-9C51AB5E8868}"/>
          </ac:picMkLst>
        </pc:picChg>
      </pc:sldChg>
    </pc:docChg>
  </pc:docChgLst>
  <pc:docChgLst>
    <pc:chgData name="HOOK, Tom (NHS ENGLAND)" userId="S::tom.hook2@nhs.net::3a6c974b-d64a-4398-91e6-9e5e306404bf" providerId="AD" clId="Web-{A3E08AAD-6518-AE78-09C1-92E6A03E3D94}"/>
    <pc:docChg chg="mod">
      <pc:chgData name="HOOK, Tom (NHS ENGLAND)" userId="S::tom.hook2@nhs.net::3a6c974b-d64a-4398-91e6-9e5e306404bf" providerId="AD" clId="Web-{A3E08AAD-6518-AE78-09C1-92E6A03E3D94}" dt="2025-11-10T11:13:44.965" v="0"/>
      <pc:docMkLst>
        <pc:docMk/>
      </pc:docMkLst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A2EEC95-64DF-BC69-FC71-A682B40486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611872-9401-5D00-CCCA-46DDE0B8B9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C6D816-94D6-40FC-B977-F8A94C7E4824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056112-4593-5EC1-B7DA-2B07022F7AC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C22BD-2C7D-A062-42A2-EA161F716A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0EB188-56CE-4FCB-8130-436851797F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21816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ED4C3-48B6-4E4A-9B0F-8051E56348DC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EC7EF-95E1-3D44-A982-BC7A3E9C617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633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Fraser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7560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Fraser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486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chemeClr val="dk1"/>
              </a:buClr>
              <a:buSzPts val="1100"/>
              <a:buNone/>
            </a:pPr>
            <a:r>
              <a:rPr lang="en-GB"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082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Fraser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8929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18903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754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7894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Sarah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3699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Chris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6391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Chris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2415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Chris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63636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19249-365B-4700-4B9B-DE6E8F881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F394CF-C0DA-15B8-8D1F-D9F962B0C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449B1-14B3-1702-4F09-58E2931D59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Chris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21D112-B599-40E0-96E8-AF506FC9EB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4EC7EF-95E1-3D44-A982-BC7A3E9C617E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9251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ront title slide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598E9D71-498A-0294-DB92-FA8A45963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0720" y="-508517"/>
            <a:ext cx="11319578" cy="80056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D054BE-B63C-B248-A010-D04767679CD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2000" y="1002268"/>
            <a:ext cx="4643853" cy="2507695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defRPr sz="5400" b="1" spc="-3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B3AB80-4EA2-FC4A-9654-92EF4DFF4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00" y="3600000"/>
            <a:ext cx="7973051" cy="102496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sz="2800">
                <a:solidFill>
                  <a:schemeClr val="accent6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0857E-40D1-074A-8CBC-E3E38E695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002280" cy="365125"/>
          </a:xfrm>
          <a:prstGeom prst="rect">
            <a:avLst/>
          </a:prstGeom>
        </p:spPr>
        <p:txBody>
          <a:bodyPr/>
          <a:lstStyle/>
          <a:p>
            <a:fld id="{B8B67EA4-DCE3-FB49-A794-A4595EF638BC}" type="slidenum">
              <a:rPr lang="en-GB" smtClean="0"/>
              <a:t>‹#›</a:t>
            </a:fld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1DEB39-6B31-D948-AF21-75D8DF423B1B}"/>
              </a:ext>
            </a:extLst>
          </p:cNvPr>
          <p:cNvSpPr txBox="1"/>
          <p:nvPr userDrawn="1"/>
        </p:nvSpPr>
        <p:spPr>
          <a:xfrm>
            <a:off x="3225114" y="601774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E63D1E-5669-124C-90CA-03B13A7D7A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5760000"/>
            <a:ext cx="6259513" cy="4889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solidFill>
                  <a:schemeClr val="accent6"/>
                </a:solidFill>
              </a:defRPr>
            </a:lvl1pPr>
            <a:lvl2pPr marL="357188" indent="0">
              <a:buNone/>
              <a:defRPr>
                <a:solidFill>
                  <a:schemeClr val="accent2"/>
                </a:solidFill>
              </a:defRPr>
            </a:lvl2pPr>
            <a:lvl3pPr marL="714375" indent="0">
              <a:buNone/>
              <a:defRPr>
                <a:solidFill>
                  <a:schemeClr val="accent2"/>
                </a:solidFill>
              </a:defRPr>
            </a:lvl3pPr>
            <a:lvl4pPr marL="1081087" indent="0">
              <a:buNone/>
              <a:defRPr>
                <a:solidFill>
                  <a:schemeClr val="accent2"/>
                </a:solidFill>
              </a:defRPr>
            </a:lvl4pPr>
            <a:lvl5pPr marL="1438275" indent="0">
              <a:buNone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2A1D7-0D87-D844-942F-FEAD20579184}"/>
              </a:ext>
            </a:extLst>
          </p:cNvPr>
          <p:cNvSpPr txBox="1"/>
          <p:nvPr userDrawn="1"/>
        </p:nvSpPr>
        <p:spPr>
          <a:xfrm>
            <a:off x="9233452" y="54864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9" name="Picture 8" descr="Logo&#10;&#10;Description automatically generated">
            <a:extLst>
              <a:ext uri="{FF2B5EF4-FFF2-40B4-BE49-F238E27FC236}">
                <a16:creationId xmlns:a16="http://schemas.microsoft.com/office/drawing/2014/main" id="{28D04FEF-6120-D9DF-6018-2393FD137B8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045" y="364425"/>
            <a:ext cx="1208955" cy="97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542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ing, content, basic text one col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5138" y="414734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75138" y="1415778"/>
            <a:ext cx="7632000" cy="402644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645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mple-Icons-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68E66E-4300-C34D-B490-E2E6A73E5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37980B-A75B-014B-A7A8-965882204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8B5FF7D-C2EF-9E4C-A4CF-A835052E5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7481C1-F4F0-BE4E-B991-152BB9620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FBC860F-BE8A-634D-9A96-33CE6D96B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88926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FA913FF-786C-1944-BF18-E9AB064B3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0393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22D839-E390-8340-B649-B4FC5A6CF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1860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40EE3D-EEFC-874A-A65B-DDDE03FC3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3327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667BF2-B8EF-D949-9F15-FC3B3099A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4794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7201170-3375-514F-99C2-E37C690396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6258" y="1811216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E67BC68-4FB2-EE4A-A33E-6A7AF0CF4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88926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77C142-7A53-7A4A-A8FB-FBF33048E3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0393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ADC5831-BE66-5045-87AF-18EBDF0274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1860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B65DE4-B016-474E-A1C1-495957C7C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3327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B3AA15-3E6B-C347-B0BE-F416C5684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4794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C0924D-A95B-1E43-84A3-825886C48D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6258" y="3175160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F522785-C8F3-734E-AF20-487FED2CE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988926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98AD1D6-A541-1941-8B56-2FF0936767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40393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44F750-124C-F246-BCDD-67595B93DC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1860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499656-96AE-C649-B3C1-81D5C6F60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443327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3150134-3C23-2A41-8EC0-2D0F308CD2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594794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542EAC-EEE9-2748-9DAC-6986FFF634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6258" y="4539104"/>
            <a:ext cx="1047157" cy="102465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1CDB1A-8B42-520A-323D-5D120AA42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195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ample-Icons-Layout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591C7AB-7F8B-2041-80C3-EE781F24E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741F68A-44AA-5742-B124-91614CFD14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E18572B-1544-A043-9B02-7AB01C90C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8D2BEC2-9D68-CC4D-A04A-BB949A02D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415083-D44F-FE40-A8D1-7BFAC700D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3175160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A6737CC-78B4-0C46-99B9-341CFA60E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058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2455CAA-C332-E746-A62B-4F86F892F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34525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BF322EA-8B44-2C46-9412-34692FAFE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85992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DB462B7-0B7F-EA46-9EFF-D26991D23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837459" y="4544899"/>
            <a:ext cx="1047157" cy="10246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510BDAA4-2C6C-4E47-9616-5977DD23D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22911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691AF0D-B60D-2949-AB30-089AD6A4A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74153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76B0456-3FC3-5D44-A9F1-56A57FD0B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825395" y="3175160"/>
            <a:ext cx="1991467" cy="19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69F651-3737-5832-DC5A-9DB8A57B6C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1CA835D-248C-29AB-B7DE-5AD7C7D2A8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21844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, subhead, two columns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BB79D01-2A70-DAF1-6A65-BC0424C2F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5992"/>
            <a:ext cx="11088000" cy="3456000"/>
          </a:xfrm>
          <a:prstGeom prst="rect">
            <a:avLst/>
          </a:prstGeom>
        </p:spPr>
        <p:txBody>
          <a:bodyPr lIns="0" tIns="0" rIns="0" bIns="0" numCol="2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E2133D-2149-6B45-BEAB-A2D5E225B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08789" y="6336000"/>
            <a:ext cx="11399211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3720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, subhead, Three columns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36000"/>
            <a:ext cx="11088000" cy="3456000"/>
          </a:xfrm>
          <a:prstGeom prst="rect">
            <a:avLst/>
          </a:prstGeom>
        </p:spPr>
        <p:txBody>
          <a:bodyPr lIns="0" tIns="0" rIns="0" bIns="0" numCol="3" spcCol="432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2087999"/>
            <a:ext cx="11050700" cy="462017"/>
          </a:xfrm>
          <a:prstGeom prst="rect">
            <a:avLst/>
          </a:prstGeom>
        </p:spPr>
        <p:txBody>
          <a:bodyPr lIns="0" tIns="0" rIns="0" bIns="0" numCol="2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7E4AB90-2CB6-0646-B56C-4B58E33EC9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A9D545D-FD2F-4843-8588-07EBE7DDA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487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707F89CB-5AF7-9C7B-6503-F287E127E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011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eading, subhead, bullets one column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2000" y="2771999"/>
            <a:ext cx="11088000" cy="3456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None/>
              <a:defRPr sz="22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1" y="2088000"/>
            <a:ext cx="11012644" cy="577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24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F771D90-A686-C949-8872-F69893BCF8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8651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D5CE1C-46DF-8846-A4A0-E19A9CC39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64955267-CD3E-4484-1B20-32E90EB4E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7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slide with image 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4093" y="1647568"/>
            <a:ext cx="4909569" cy="3130069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ts val="4200"/>
              </a:lnSpc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Headline over a number of lines,</a:t>
            </a:r>
            <a:br>
              <a:rPr lang="en-GB"/>
            </a:br>
            <a:r>
              <a:rPr lang="en-GB"/>
              <a:t>keep to maximum of four lines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</p:spTree>
    <p:extLst>
      <p:ext uri="{BB962C8B-B14F-4D97-AF65-F5344CB8AC3E}">
        <p14:creationId xmlns:p14="http://schemas.microsoft.com/office/powerpoint/2010/main" val="304328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244FF8-F4E4-0514-77D0-8D8D69F93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1ACF78F6-439A-384B-9C21-D11B5B50E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B540671A-ED56-3548-A508-080ABBDB5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77721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77721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1884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1884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277721" y="3749267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77721" y="464926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239447" y="3752201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1884" y="4650427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DBEB741-20EA-C36A-7EF8-DE1CD1F1A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9184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Grid Boxes 2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2000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2000" y="1691082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 Placeholder 7">
            <a:extLst>
              <a:ext uri="{FF2B5EF4-FFF2-40B4-BE49-F238E27FC236}">
                <a16:creationId xmlns:a16="http://schemas.microsoft.com/office/drawing/2014/main" id="{242484D6-4364-A442-9ABC-5042556E62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4378" y="2699082"/>
            <a:ext cx="3564000" cy="3311999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Rectangle: Top Corners Rounded 21">
            <a:extLst>
              <a:ext uri="{FF2B5EF4-FFF2-40B4-BE49-F238E27FC236}">
                <a16:creationId xmlns:a16="http://schemas.microsoft.com/office/drawing/2014/main" id="{9E7ED11E-4751-6140-AC11-8C5B88B96E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24378" y="1691082"/>
            <a:ext cx="3564000" cy="1008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5DD270E-858A-0745-A4F5-3FE5B49194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D787DC-00EF-B13A-FE97-CE51273E8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0783BA3-377B-7D8A-0B7B-91C314676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84862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6616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Grid, Titles 4UP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Top Corners Rounded 17">
            <a:extLst>
              <a:ext uri="{FF2B5EF4-FFF2-40B4-BE49-F238E27FC236}">
                <a16:creationId xmlns:a16="http://schemas.microsoft.com/office/drawing/2014/main" id="{205929B3-ED58-E54F-B724-E24FB5F16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2000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286FFC-BD82-6E40-BA0C-B1C0F7127A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2088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pPr algn="r"/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F90A04B-AAE8-A248-ADF6-A73BF8ECD7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92000" y="2089034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Rectangle: Top Corners Rounded 19">
            <a:extLst>
              <a:ext uri="{FF2B5EF4-FFF2-40B4-BE49-F238E27FC236}">
                <a16:creationId xmlns:a16="http://schemas.microsoft.com/office/drawing/2014/main" id="{08FEBAA5-9C5F-2648-899B-9991822EB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92000" y="1188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6017D8E3-CAD4-674B-ABC3-946291000D2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87C9DF-7113-134C-B859-0141E7D1B2DB}"/>
              </a:ext>
            </a:extLst>
          </p:cNvPr>
          <p:cNvSpPr txBox="1"/>
          <p:nvPr userDrawn="1"/>
        </p:nvSpPr>
        <p:spPr>
          <a:xfrm>
            <a:off x="4700954" y="6530388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25" name="Rectangle: Top Corners Rounded 24">
            <a:extLst>
              <a:ext uri="{FF2B5EF4-FFF2-40B4-BE49-F238E27FC236}">
                <a16:creationId xmlns:a16="http://schemas.microsoft.com/office/drawing/2014/main" id="{8FD6A08D-6DD3-C845-8B17-CC9297B60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2000" y="3744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07BD5561-5536-6F4A-AD32-EFB7423F22A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2000" y="4644000"/>
            <a:ext cx="3564000" cy="1512000"/>
          </a:xfrm>
          <a:prstGeom prst="rect">
            <a:avLst/>
          </a:prstGeom>
          <a:solidFill>
            <a:srgbClr val="F2F2F2"/>
          </a:solidFill>
        </p:spPr>
        <p:txBody>
          <a:bodyPr lIns="216000" tIns="216000" rIns="216000" bIns="21600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Rectangle: Top Corners Rounded 26">
            <a:extLst>
              <a:ext uri="{FF2B5EF4-FFF2-40B4-BE49-F238E27FC236}">
                <a16:creationId xmlns:a16="http://schemas.microsoft.com/office/drawing/2014/main" id="{B5A7277B-59DD-844A-A364-77AED24CB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92000" y="3744000"/>
            <a:ext cx="3564000" cy="900000"/>
          </a:xfrm>
          <a:prstGeom prst="round2SameRect">
            <a:avLst/>
          </a:prstGeom>
          <a:solidFill>
            <a:srgbClr val="E4EB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7F5640E1-FA0E-4F42-9387-CD7C434D28C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32000"/>
            <a:ext cx="11404154" cy="695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555C5-A77A-2E44-BAF7-246298421E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1296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4B913F3-B51C-1F4F-BA00-F024BBF468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00000" y="1302462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9A16CC21-F99A-6F47-A063-FA9FE06BAE1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0000" y="3852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511DBD00-D83F-EF49-900D-B6C65CED273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00000" y="3852000"/>
            <a:ext cx="3348000" cy="684000"/>
          </a:xfrm>
        </p:spPr>
        <p:txBody>
          <a:bodyPr anchor="ctr"/>
          <a:lstStyle>
            <a:lvl1pPr algn="ctr">
              <a:buNone/>
              <a:defRPr sz="2200" b="1">
                <a:solidFill>
                  <a:schemeClr val="accent6"/>
                </a:solidFill>
              </a:defRPr>
            </a:lvl1pPr>
          </a:lstStyle>
          <a:p>
            <a:pPr lvl="0"/>
            <a:r>
              <a:rPr lang="en-GB"/>
              <a:t>Insert title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9357DCD-A469-B34A-A880-D744CA731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BA4CC6C-41AA-2D50-A8B9-63559566F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48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ue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F1649F8-C95E-B04E-A0E7-F89193CC97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7224" y="1314156"/>
            <a:ext cx="7503849" cy="3466727"/>
          </a:xfrm>
          <a:prstGeom prst="rect">
            <a:avLst/>
          </a:prstGeom>
        </p:spPr>
        <p:txBody>
          <a:bodyPr>
            <a:noAutofit/>
          </a:bodyPr>
          <a:lstStyle>
            <a:lvl1pPr marL="288000" indent="-288000" algn="l">
              <a:buNone/>
              <a:defRPr sz="42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“Showcase quotation</a:t>
            </a:r>
            <a:br>
              <a:rPr lang="en-GB"/>
            </a:br>
            <a:r>
              <a:rPr lang="en-GB"/>
              <a:t>with left aligned text over multiple lines. Try to keep</a:t>
            </a:r>
            <a:br>
              <a:rPr lang="en-GB"/>
            </a:br>
            <a:r>
              <a:rPr lang="en-GB"/>
              <a:t>it to four lines if </a:t>
            </a:r>
            <a:r>
              <a:rPr lang="en-GB" err="1"/>
              <a:t>poss</a:t>
            </a:r>
            <a:r>
              <a:rPr lang="en-GB"/>
              <a:t> or five lines max.”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406466E-798B-BE4C-B09F-C1B1244AAB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8000" y="4780883"/>
            <a:ext cx="7503849" cy="896938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b="1"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Name Surname,</a:t>
            </a:r>
            <a:br>
              <a:rPr lang="en-GB"/>
            </a:br>
            <a:r>
              <a:rPr lang="en-GB"/>
              <a:t>Job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3FE3F0-85CD-934D-A3A3-CF2B78D73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A86FEEE-9136-D68E-6360-B4FDD6D91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77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4EE10-8D4E-C85B-5620-784900182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D43F37B1-1F8A-2CA4-9D19-C0E420FB42A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7052" y="1673324"/>
            <a:ext cx="3461285" cy="658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Heading label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C90ABAC-E435-5C65-A8FA-9E315CE9DE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337CE4-9082-D695-8AD8-89148114EBD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7052" y="2331691"/>
            <a:ext cx="3461285" cy="311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38698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 and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E4EE10-8D4E-C85B-5620-784900182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BA16B251-D1BB-394C-319F-40E8F04D7FB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7052" y="1673324"/>
            <a:ext cx="3461285" cy="65836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3600" b="1">
                <a:solidFill>
                  <a:schemeClr val="tx1"/>
                </a:solidFill>
              </a:defRPr>
            </a:lvl1pPr>
            <a:lvl2pPr marL="357188" indent="0">
              <a:buNone/>
              <a:defRPr>
                <a:solidFill>
                  <a:schemeClr val="tx1"/>
                </a:solidFill>
              </a:defRPr>
            </a:lvl2pPr>
            <a:lvl3pPr marL="714375" indent="0">
              <a:buNone/>
              <a:defRPr>
                <a:solidFill>
                  <a:schemeClr val="tx1"/>
                </a:solidFill>
              </a:defRPr>
            </a:lvl3pPr>
            <a:lvl4pPr marL="1081087" indent="0">
              <a:buNone/>
              <a:defRPr>
                <a:solidFill>
                  <a:schemeClr val="tx1"/>
                </a:solidFill>
              </a:defRPr>
            </a:lvl4pPr>
            <a:lvl5pPr marL="1438275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Heading label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2C90ABAC-E435-5C65-A8FA-9E315CE9DE5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42D69F-C459-8ECE-06A1-66E418FF3EC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7052" y="2331691"/>
            <a:ext cx="3461285" cy="311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1800" b="0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052080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52196E5-15CA-15E3-1E10-32B3D19927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652C93B3-5A12-5AAD-2ACF-93939EE7FBF5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58B23E-2241-0C04-DC3A-1FCFC1EF8A2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7052" y="2331691"/>
            <a:ext cx="3461285" cy="311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“Add quote text here”</a:t>
            </a:r>
          </a:p>
        </p:txBody>
      </p:sp>
    </p:spTree>
    <p:extLst>
      <p:ext uri="{BB962C8B-B14F-4D97-AF65-F5344CB8AC3E}">
        <p14:creationId xmlns:p14="http://schemas.microsoft.com/office/powerpoint/2010/main" val="2841820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nd imag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EB4F947-0C85-DAF2-683C-40847EF7F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EA7B0BA1-E61A-5019-0AA4-5328CA2AB0E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6474B-ACF2-9D41-872B-7CB816A7A28A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A22BD2E-E9C2-A15B-06FB-553974CDE6C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7052" y="2331691"/>
            <a:ext cx="3461285" cy="311053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Arial" panose="020B0604020202020204" pitchFamily="34" charset="0"/>
              <a:buNone/>
              <a:defRPr sz="2800" b="1"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 sz="2200"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 sz="2200"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 sz="2200"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“Add quote text here”</a:t>
            </a:r>
          </a:p>
        </p:txBody>
      </p:sp>
    </p:spTree>
    <p:extLst>
      <p:ext uri="{BB962C8B-B14F-4D97-AF65-F5344CB8AC3E}">
        <p14:creationId xmlns:p14="http://schemas.microsoft.com/office/powerpoint/2010/main" val="123167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Heading1-Blue-DarkBlu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0C3909-1482-1013-E118-A2CE0A1DD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E3119AD-4AAB-8B34-F6C1-8D76F0D453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0042" y="2242938"/>
            <a:ext cx="10515600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slide 1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82932" y="3564000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198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Heading1-Blue-DarkBlue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F6C2AD-0E53-2A94-6EDF-C2BC1C35E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41914" y="-121920"/>
            <a:ext cx="12408747" cy="697992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D1B5349-CF21-E9D2-92A0-6C58C15A04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688" y="2165645"/>
            <a:ext cx="10515600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</a:t>
            </a:r>
            <a:br>
              <a:rPr lang="en-US"/>
            </a:br>
            <a:r>
              <a:rPr lang="en-US"/>
              <a:t>slide 2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2000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89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reaker Heading1-Blue-DarkBlue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D07C2D6-AB1B-B84B-BC13-7D79E8BCF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16318" y="-148043"/>
            <a:ext cx="12499929" cy="70312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506D8CC-65FF-0E59-2392-2C0EBC0605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468" y="2165645"/>
            <a:ext cx="10515600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</a:t>
            </a:r>
            <a:br>
              <a:rPr lang="en-US"/>
            </a:br>
            <a:r>
              <a:rPr lang="en-US"/>
              <a:t>slide 3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1916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91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reaker Heading1-Blue-DarkBlue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76489-9A30-702B-3E26-D818458928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468" y="2165645"/>
            <a:ext cx="10515600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</a:t>
            </a:r>
            <a:br>
              <a:rPr lang="en-US"/>
            </a:br>
            <a:r>
              <a:rPr lang="en-US"/>
              <a:t>slide 4</a:t>
            </a:r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10A3391-0472-724C-8E32-AA7421F01EE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4598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262997B-3AAD-0D48-95DC-60BECBF9FEF6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pic>
        <p:nvPicPr>
          <p:cNvPr id="5" name="Picture 4" descr="A blue rectangle with black background&#10;&#10;Description automatically generated">
            <a:extLst>
              <a:ext uri="{FF2B5EF4-FFF2-40B4-BE49-F238E27FC236}">
                <a16:creationId xmlns:a16="http://schemas.microsoft.com/office/drawing/2014/main" id="{D115B473-1B85-DD59-52BE-0E90A80C94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727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line slide with image A">
    <p:bg>
      <p:bgPr>
        <a:solidFill>
          <a:srgbClr val="F6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EF456E7-F404-A541-B6E9-27C1B10EC600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</p:spPr>
        <p:txBody>
          <a:bodyPr tIns="2340000"/>
          <a:lstStyle>
            <a:lvl1pPr algn="ctr">
              <a:buNone/>
              <a:defRPr/>
            </a:lvl1pPr>
          </a:lstStyle>
          <a:p>
            <a:r>
              <a:rPr lang="en-GB"/>
              <a:t>Click on icon to insert image (including Alt Text)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2CCDA4-D437-6B48-8BBD-CAC30F281160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tx1"/>
                </a:solidFill>
              </a:rPr>
              <a:pPr algn="r"/>
              <a:t>‹#›</a:t>
            </a:fld>
            <a:endParaRPr lang="en-GB" sz="1200">
              <a:solidFill>
                <a:schemeClr val="tx1"/>
              </a:solidFill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355A0D-4235-0CF1-A976-C33D8CCCBF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1916" y="3903218"/>
            <a:ext cx="3890150" cy="89693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357188" indent="0">
              <a:buNone/>
              <a:defRPr/>
            </a:lvl2pPr>
            <a:lvl3pPr marL="714375" indent="0">
              <a:buNone/>
              <a:defRPr/>
            </a:lvl3pPr>
            <a:lvl4pPr marL="1081087" indent="0">
              <a:buNone/>
              <a:defRPr/>
            </a:lvl4pPr>
            <a:lvl5pPr marL="1438275" indent="0">
              <a:buNone/>
              <a:defRPr/>
            </a:lvl5pPr>
          </a:lstStyle>
          <a:p>
            <a:pPr lvl="0"/>
            <a:r>
              <a:rPr lang="en-GB"/>
              <a:t>Section subhead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E577A8-7F18-CBCC-319C-10DC2550A7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7468" y="2165645"/>
            <a:ext cx="4716354" cy="1325563"/>
          </a:xfrm>
        </p:spPr>
        <p:txBody>
          <a:bodyPr>
            <a:noAutofit/>
          </a:bodyPr>
          <a:lstStyle>
            <a:lvl1pPr>
              <a:defRPr sz="6000" b="1"/>
            </a:lvl1pPr>
          </a:lstStyle>
          <a:p>
            <a:r>
              <a:rPr lang="en-US"/>
              <a:t>Breaker </a:t>
            </a:r>
            <a:br>
              <a:rPr lang="en-US"/>
            </a:br>
            <a:r>
              <a:rPr lang="en-US"/>
              <a:t>slide 5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684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ACCESSI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D92FD5-08EA-6BC8-29BC-BCF5EEFE1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-2509143" y="-71523"/>
            <a:ext cx="10768951" cy="7616239"/>
          </a:xfrm>
          <a:prstGeom prst="rect">
            <a:avLst/>
          </a:prstGeom>
        </p:spPr>
      </p:pic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077C56A3-4FFE-73CF-6F7F-1F451E5B3F1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51045" y="364425"/>
            <a:ext cx="1208955" cy="979789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9D383FB-0467-4241-BEF0-D636E8867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5715926" y="2605852"/>
            <a:ext cx="865108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390E57B-AF19-8642-9E47-AF887F52887B}"/>
              </a:ext>
            </a:extLst>
          </p:cNvPr>
          <p:cNvSpPr txBox="1"/>
          <p:nvPr userDrawn="1"/>
        </p:nvSpPr>
        <p:spPr>
          <a:xfrm>
            <a:off x="5610770" y="2808746"/>
            <a:ext cx="4343734" cy="26080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36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Thank You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	@nhsengland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	company/</a:t>
            </a:r>
            <a:r>
              <a:rPr kumimoji="0" lang="en-GB" sz="2400" b="1" i="0" u="none" strike="noStrike" kern="1200" cap="none" spc="2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nhsengland</a:t>
            </a:r>
            <a:endParaRPr kumimoji="0" lang="en-GB" sz="2400" b="1" i="0" u="none" strike="noStrike" kern="1200" cap="none" spc="2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005EB8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1" i="0" u="none" strike="noStrike" kern="1200" cap="none" spc="2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england.nhs.uk</a:t>
            </a:r>
            <a:endParaRPr lang="en-GB" sz="2400" b="1">
              <a:solidFill>
                <a:schemeClr val="tx1"/>
              </a:solidFill>
            </a:endParaRPr>
          </a:p>
        </p:txBody>
      </p:sp>
      <p:pic>
        <p:nvPicPr>
          <p:cNvPr id="5" name="Picture 4" descr="Twitter symbol">
            <a:extLst>
              <a:ext uri="{FF2B5EF4-FFF2-40B4-BE49-F238E27FC236}">
                <a16:creationId xmlns:a16="http://schemas.microsoft.com/office/drawing/2014/main" id="{6C1B65D7-2EE6-F44F-85AA-7C93787926C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872040" y="3665234"/>
            <a:ext cx="390144" cy="390144"/>
          </a:xfrm>
          <a:prstGeom prst="rect">
            <a:avLst/>
          </a:prstGeom>
        </p:spPr>
      </p:pic>
      <p:pic>
        <p:nvPicPr>
          <p:cNvPr id="8" name="Picture 7" descr="LinkedIn symbol">
            <a:extLst>
              <a:ext uri="{FF2B5EF4-FFF2-40B4-BE49-F238E27FC236}">
                <a16:creationId xmlns:a16="http://schemas.microsoft.com/office/drawing/2014/main" id="{F2843EE8-F6F8-9D40-92C1-94FB4DCF14B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885396" y="4266369"/>
            <a:ext cx="390144" cy="390144"/>
          </a:xfrm>
          <a:prstGeom prst="rect">
            <a:avLst/>
          </a:prstGeom>
        </p:spPr>
      </p:pic>
      <p:pic>
        <p:nvPicPr>
          <p:cNvPr id="72" name="Picture 96" descr="World-wide web symbol">
            <a:extLst>
              <a:ext uri="{FF2B5EF4-FFF2-40B4-BE49-F238E27FC236}">
                <a16:creationId xmlns:a16="http://schemas.microsoft.com/office/drawing/2014/main" id="{664BA24D-FA8C-EE4D-A2DC-491BF11D6FA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5767074" y="4806522"/>
            <a:ext cx="600075" cy="600075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3DACDB8-C05A-C540-BF85-5FDDA3660A2E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2"/>
                </a:solidFill>
              </a:rPr>
              <a:t>‹#›</a:t>
            </a:fld>
            <a:endParaRPr lang="en-GB" sz="12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1523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at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2000" y="310075"/>
            <a:ext cx="11404154" cy="426721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>
              <a:defRPr sz="2400" b="1">
                <a:solidFill>
                  <a:schemeClr val="tx1"/>
                </a:solidFill>
              </a:defRPr>
            </a:lvl1pPr>
          </a:lstStyle>
          <a:p>
            <a:r>
              <a:rPr lang="en-GB"/>
              <a:t>Heading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0784B1-AA1E-DC4B-BEB4-EC05249AFE00}"/>
              </a:ext>
            </a:extLst>
          </p:cNvPr>
          <p:cNvSpPr txBox="1"/>
          <p:nvPr userDrawn="1"/>
        </p:nvSpPr>
        <p:spPr>
          <a:xfrm>
            <a:off x="4700954" y="423203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B4B32-B7B7-DB40-9D0C-2D4D8414C6EC}"/>
              </a:ext>
            </a:extLst>
          </p:cNvPr>
          <p:cNvSpPr/>
          <p:nvPr userDrawn="1"/>
        </p:nvSpPr>
        <p:spPr>
          <a:xfrm>
            <a:off x="11444644" y="6404977"/>
            <a:ext cx="37221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fld id="{BA3B713D-1FBB-0E4F-91D0-D2B735266E79}" type="slidenum">
              <a:rPr lang="en-GB" sz="1200" smtClean="0">
                <a:solidFill>
                  <a:schemeClr val="accent6"/>
                </a:solidFill>
              </a:rPr>
              <a:t>‹#›</a:t>
            </a:fld>
            <a:endParaRPr lang="en-GB" sz="1200">
              <a:solidFill>
                <a:schemeClr val="accent6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C3715D-C90E-7C4B-B312-C707773A39DD}"/>
              </a:ext>
            </a:extLst>
          </p:cNvPr>
          <p:cNvSpPr txBox="1"/>
          <p:nvPr userDrawn="1"/>
        </p:nvSpPr>
        <p:spPr>
          <a:xfrm>
            <a:off x="2232561" y="317071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GB" sz="1200" b="1">
              <a:solidFill>
                <a:schemeClr val="accent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7E920E-FCD4-834F-9787-A19C03BDF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32000" y="6336000"/>
            <a:ext cx="11376000" cy="0"/>
          </a:xfrm>
          <a:prstGeom prst="line">
            <a:avLst/>
          </a:prstGeom>
          <a:ln w="63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E055424E-84DC-71BA-CBB2-BE0007D93C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10800000">
            <a:off x="9220370" y="244040"/>
            <a:ext cx="3064672" cy="187960"/>
          </a:xfrm>
          <a:prstGeom prst="rect">
            <a:avLst/>
          </a:prstGeo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FB2922A9-9C8F-43B1-7D0A-0C7761EE45F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2001" y="767200"/>
            <a:ext cx="11012644" cy="57792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2200"/>
              </a:lnSpc>
              <a:spcBef>
                <a:spcPts val="0"/>
              </a:spcBef>
              <a:spcAft>
                <a:spcPts val="900"/>
              </a:spcAft>
              <a:buClr>
                <a:schemeClr val="tx1"/>
              </a:buClr>
              <a:buNone/>
              <a:defRPr sz="1800" b="1">
                <a:solidFill>
                  <a:schemeClr val="accent6"/>
                </a:solidFill>
              </a:defRPr>
            </a:lvl1pPr>
            <a:lvl2pPr marL="357188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2pPr>
            <a:lvl3pPr marL="7143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3pPr>
            <a:lvl4pPr marL="1081087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4pPr>
            <a:lvl5pPr marL="1438275" indent="0">
              <a:buClr>
                <a:schemeClr val="tx1"/>
              </a:buClr>
              <a:buNone/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Subhead if needed</a:t>
            </a:r>
          </a:p>
        </p:txBody>
      </p:sp>
    </p:spTree>
    <p:extLst>
      <p:ext uri="{BB962C8B-B14F-4D97-AF65-F5344CB8AC3E}">
        <p14:creationId xmlns:p14="http://schemas.microsoft.com/office/powerpoint/2010/main" val="11083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CE947E-1F3C-4CE2-B205-42ACABCDF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187EB-CD8C-4429-80A8-057E397FF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8BCC8-525B-41FD-8646-596B1960C6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574AD-8404-48D7-8DB8-BCC9125C3396}" type="datetimeFigureOut">
              <a:rPr lang="en-GB" smtClean="0"/>
              <a:t>11/11/2025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564A6-47BB-43DB-A152-9E1555760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3BD63-EE18-4132-8F91-68A0A2C0DA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67EA4-DCE3-FB49-A794-A4595EF638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50448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5" r:id="rId1"/>
    <p:sldLayoutId id="2147483817" r:id="rId2"/>
    <p:sldLayoutId id="2147483833" r:id="rId3"/>
    <p:sldLayoutId id="2147483834" r:id="rId4"/>
    <p:sldLayoutId id="2147483826" r:id="rId5"/>
    <p:sldLayoutId id="2147483827" r:id="rId6"/>
    <p:sldLayoutId id="2147483789" r:id="rId7"/>
    <p:sldLayoutId id="2147483818" r:id="rId8"/>
    <p:sldLayoutId id="2147483813" r:id="rId9"/>
    <p:sldLayoutId id="2147483814" r:id="rId10"/>
    <p:sldLayoutId id="2147483815" r:id="rId11"/>
    <p:sldLayoutId id="2147483719" r:id="rId12"/>
    <p:sldLayoutId id="2147483938" r:id="rId13"/>
    <p:sldLayoutId id="2147483939" r:id="rId14"/>
    <p:sldLayoutId id="2147483933" r:id="rId15"/>
    <p:sldLayoutId id="2147483824" r:id="rId16"/>
    <p:sldLayoutId id="2147483926" r:id="rId17"/>
    <p:sldLayoutId id="2147483927" r:id="rId18"/>
    <p:sldLayoutId id="2147483929" r:id="rId19"/>
    <p:sldLayoutId id="2147483928" r:id="rId20"/>
    <p:sldLayoutId id="2147483930" r:id="rId21"/>
    <p:sldLayoutId id="2147483924" r:id="rId22"/>
    <p:sldLayoutId id="2147483940" r:id="rId2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igital.nhs.uk/blog/data-points-blog/2023/why-were-getting-our-data-teams-to-rap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opensource.com/article/22/4/git-branches" TargetMode="External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hsengland/se-template-public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loz-birks.github.io/se-da-github-guide/pages/databricks-github.html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loz-birks.github.io/se-da-github-guide/pages/vs-code.html" TargetMode="External"/><Relationship Id="rId4" Type="http://schemas.openxmlformats.org/officeDocument/2006/relationships/hyperlink" Target="https://loz-birks.github.io/se-da-github-guide/pages/r-studio.html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oz-birks.github.io/se-da-github-guide/pages/databricks-github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github.com/nhsengland/se-template-public" TargetMode="External"/><Relationship Id="rId4" Type="http://schemas.openxmlformats.org/officeDocument/2006/relationships/hyperlink" Target="https://github.com/nhsengland/SE-Teaching-Repo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loz-birks.github.io/se-da-github-guide/pages/first-repo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oz-birks.github.io/se-da-github-guide/pages/vs-code.html" TargetMode="External"/><Relationship Id="rId5" Type="http://schemas.openxmlformats.org/officeDocument/2006/relationships/hyperlink" Target="https://loz-birks.github.io/se-da-github-guide/pages/databricks-github.html" TargetMode="External"/><Relationship Id="rId4" Type="http://schemas.openxmlformats.org/officeDocument/2006/relationships/hyperlink" Target="https://loz-birks.github.io/se-da-github-guide/pages/r-studio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499A9-ADAE-F54A-B49E-F294E7BCE9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6000"/>
              <a:t>Introduction to GitHub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B96998-8BA0-CF4D-B57F-DEBCAD1141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/>
              <a:t>May 2025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F63B5F-2944-6B41-9332-74DB2CCA6F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2000" y="5760000"/>
            <a:ext cx="6259513" cy="592674"/>
          </a:xfrm>
        </p:spPr>
        <p:txBody>
          <a:bodyPr>
            <a:normAutofit fontScale="47500" lnSpcReduction="20000"/>
          </a:bodyPr>
          <a:lstStyle/>
          <a:p>
            <a:pPr>
              <a:lnSpc>
                <a:spcPct val="120000"/>
              </a:lnSpc>
            </a:pPr>
            <a:r>
              <a:rPr lang="en-GB"/>
              <a:t>Presented by:</a:t>
            </a:r>
            <a:br>
              <a:rPr lang="en-GB"/>
            </a:br>
            <a:r>
              <a:rPr lang="en-GB" b="1"/>
              <a:t>Sarah Blincko</a:t>
            </a:r>
          </a:p>
          <a:p>
            <a:pPr>
              <a:lnSpc>
                <a:spcPct val="120000"/>
              </a:lnSpc>
            </a:pPr>
            <a:r>
              <a:rPr lang="en-GB" b="1"/>
              <a:t>Credit also to Chris Pottage and Fraser Blackman from the Strategic Analysis Team</a:t>
            </a:r>
          </a:p>
        </p:txBody>
      </p:sp>
    </p:spTree>
    <p:extLst>
      <p:ext uri="{BB962C8B-B14F-4D97-AF65-F5344CB8AC3E}">
        <p14:creationId xmlns:p14="http://schemas.microsoft.com/office/powerpoint/2010/main" val="3830231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D76CC5-463C-7413-EEC3-E9ADCCC2F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Git and GitHub?</a:t>
            </a:r>
          </a:p>
        </p:txBody>
      </p:sp>
      <p:pic>
        <p:nvPicPr>
          <p:cNvPr id="5" name="Google Shape;83;p16">
            <a:extLst>
              <a:ext uri="{FF2B5EF4-FFF2-40B4-BE49-F238E27FC236}">
                <a16:creationId xmlns:a16="http://schemas.microsoft.com/office/drawing/2014/main" id="{30B1DD14-5A54-C868-091C-685A74154B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61553" y="2608661"/>
            <a:ext cx="3007036" cy="12529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84;p16">
            <a:extLst>
              <a:ext uri="{FF2B5EF4-FFF2-40B4-BE49-F238E27FC236}">
                <a16:creationId xmlns:a16="http://schemas.microsoft.com/office/drawing/2014/main" id="{930F0F01-8E29-279C-BF9A-C873A32D6C5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40799" y="962879"/>
            <a:ext cx="2351848" cy="144652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5;p16">
            <a:extLst>
              <a:ext uri="{FF2B5EF4-FFF2-40B4-BE49-F238E27FC236}">
                <a16:creationId xmlns:a16="http://schemas.microsoft.com/office/drawing/2014/main" id="{1C38F557-0D72-F70D-4EA4-A464CB474CA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97018" y="4250550"/>
            <a:ext cx="3239410" cy="161969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15C462-1E60-300A-687A-D6D2F1EE7D62}"/>
              </a:ext>
            </a:extLst>
          </p:cNvPr>
          <p:cNvSpPr txBox="1"/>
          <p:nvPr/>
        </p:nvSpPr>
        <p:spPr>
          <a:xfrm>
            <a:off x="781068" y="2409407"/>
            <a:ext cx="64521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/>
              <a:t>GitHub</a:t>
            </a:r>
            <a:r>
              <a:rPr lang="en-GB"/>
              <a:t> is the world’s largest online repository hosting open source code projects.</a:t>
            </a:r>
          </a:p>
          <a:p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GitHub allows users to collaborate on projects and share modifications. GitHub has, at its core, </a:t>
            </a:r>
            <a:r>
              <a:rPr lang="en-GB" b="1"/>
              <a:t>Git </a:t>
            </a:r>
            <a:r>
              <a:rPr lang="en-GB"/>
              <a:t>functionality, which allows for </a:t>
            </a:r>
            <a:r>
              <a:rPr lang="en-GB" b="1"/>
              <a:t>version control</a:t>
            </a:r>
            <a:r>
              <a:rPr lang="en-GB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D02DCA-3DB8-2655-84DB-08B53CC84D97}"/>
              </a:ext>
            </a:extLst>
          </p:cNvPr>
          <p:cNvSpPr txBox="1"/>
          <p:nvPr/>
        </p:nvSpPr>
        <p:spPr>
          <a:xfrm>
            <a:off x="87923" y="6426000"/>
            <a:ext cx="72976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i="1">
                <a:latin typeface="Lexend"/>
                <a:ea typeface="Lexend"/>
                <a:cs typeface="Lexend"/>
                <a:sym typeface="Lexend"/>
              </a:rPr>
              <a:t>Slide taken from Health Service Modelling Associates Training Course</a:t>
            </a:r>
          </a:p>
        </p:txBody>
      </p:sp>
    </p:spTree>
    <p:extLst>
      <p:ext uri="{BB962C8B-B14F-4D97-AF65-F5344CB8AC3E}">
        <p14:creationId xmlns:p14="http://schemas.microsoft.com/office/powerpoint/2010/main" val="2264171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4">
            <a:extLst>
              <a:ext uri="{FF2B5EF4-FFF2-40B4-BE49-F238E27FC236}">
                <a16:creationId xmlns:a16="http://schemas.microsoft.com/office/drawing/2014/main" id="{38CD63A1-340F-AF47-BC76-77C1B8EFA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404154" cy="865186"/>
          </a:xfrm>
        </p:spPr>
        <p:txBody>
          <a:bodyPr/>
          <a:lstStyle/>
          <a:p>
            <a:r>
              <a:rPr lang="en-GB" spc="-40"/>
              <a:t>Why Use Git?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594638D-C17F-D749-9360-E2332845D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42821"/>
            <a:ext cx="11088000" cy="4113678"/>
          </a:xfrm>
        </p:spPr>
        <p:txBody>
          <a:bodyPr>
            <a:normAutofit fontScale="70000" lnSpcReduction="20000"/>
          </a:bodyPr>
          <a:lstStyle/>
          <a:p>
            <a: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The government, and more recently the NHS, have heavily leaned into RAP - </a:t>
            </a:r>
            <a:r>
              <a:rPr lang="en-GB" sz="24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eproducible </a:t>
            </a:r>
            <a:r>
              <a:rPr lang="en-GB" sz="24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nalytical </a:t>
            </a:r>
            <a:r>
              <a:rPr lang="en-GB" sz="24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ipelines.</a:t>
            </a:r>
            <a:b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endParaRPr lang="en-GB" sz="24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In a nutshell - and at a minimum - RAP involves:</a:t>
            </a:r>
          </a:p>
          <a:p>
            <a:pPr>
              <a:buClr>
                <a:schemeClr val="dk1"/>
              </a:buClr>
              <a:buSzPts val="1100"/>
            </a:pPr>
            <a:endParaRPr lang="en-GB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14772" indent="-328361">
              <a:buClr>
                <a:schemeClr val="lt1"/>
              </a:buClr>
              <a:buSzPts val="2100"/>
              <a:buFont typeface="Lexend"/>
              <a:buChar char="●"/>
            </a:pPr>
            <a: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“minimising manual steps through automation </a:t>
            </a:r>
            <a:b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endParaRPr lang="en-GB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14772" indent="-328361">
              <a:buClr>
                <a:schemeClr val="lt1"/>
              </a:buClr>
              <a:buSzPts val="2100"/>
              <a:buFont typeface="Lexend"/>
              <a:buChar char="●"/>
            </a:pPr>
            <a: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using open-source languages to improve portability and reduce license fees </a:t>
            </a:r>
            <a:b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endParaRPr lang="en-GB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14772" indent="-328361">
              <a:buClr>
                <a:schemeClr val="lt1"/>
              </a:buClr>
              <a:buSzPts val="2100"/>
              <a:buFont typeface="Lexend"/>
              <a:buChar char="●"/>
            </a:pPr>
            <a:r>
              <a:rPr lang="en-GB" sz="2400" b="1">
                <a:solidFill>
                  <a:schemeClr val="bg2"/>
                </a:solidFill>
                <a:latin typeface="Lexend"/>
                <a:ea typeface="Lexend"/>
                <a:cs typeface="Lexend"/>
                <a:sym typeface="Lexend"/>
              </a:rPr>
              <a:t>peer reviewing code to improve quality and reliability </a:t>
            </a:r>
            <a:b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endParaRPr lang="en-GB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14772" indent="-328361">
              <a:buClr>
                <a:schemeClr val="lt1"/>
              </a:buClr>
              <a:buSzPts val="2100"/>
              <a:buFont typeface="Lexend"/>
              <a:buChar char="●"/>
            </a:pPr>
            <a:r>
              <a:rPr lang="en-GB" sz="2400" b="1">
                <a:solidFill>
                  <a:schemeClr val="bg2"/>
                </a:solidFill>
                <a:latin typeface="Lexend"/>
                <a:ea typeface="Lexend"/>
                <a:cs typeface="Lexend"/>
                <a:sym typeface="Lexend"/>
              </a:rPr>
              <a:t>using code version-control software (for example, Git) to improve auditability, change tracking and disaster recovery</a:t>
            </a:r>
            <a:b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lang="en-GB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14772" indent="-328361">
              <a:buClr>
                <a:schemeClr val="lt1"/>
              </a:buClr>
              <a:buSzPts val="2100"/>
              <a:buFont typeface="Lexend"/>
              <a:buChar char="●"/>
            </a:pPr>
            <a:r>
              <a:rPr lang="en-GB" sz="2400" b="1">
                <a:solidFill>
                  <a:schemeClr val="bg2"/>
                </a:solidFill>
                <a:latin typeface="Lexend"/>
                <a:ea typeface="Lexend"/>
                <a:cs typeface="Lexend"/>
                <a:sym typeface="Lexend"/>
              </a:rPr>
              <a:t>publishing the code externally to improve transparency and reuse </a:t>
            </a:r>
            <a:br>
              <a:rPr lang="en-GB" sz="2400" b="1">
                <a:solidFill>
                  <a:schemeClr val="bg2"/>
                </a:solidFill>
                <a:latin typeface="Lexend"/>
                <a:ea typeface="Lexend"/>
                <a:cs typeface="Lexend"/>
                <a:sym typeface="Lexend"/>
              </a:rPr>
            </a:br>
            <a:endParaRPr lang="en-GB" sz="1800" b="1">
              <a:solidFill>
                <a:schemeClr val="bg2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14772" indent="-328361">
              <a:buClr>
                <a:schemeClr val="lt1"/>
              </a:buClr>
              <a:buSzPts val="2100"/>
              <a:buFont typeface="Lexend"/>
              <a:buChar char="●"/>
            </a:pPr>
            <a: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documenting the code in-situ through comments and markdown files, to improve accessibility and understanding”</a:t>
            </a:r>
            <a:br>
              <a:rPr lang="en-GB" sz="24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</a:br>
            <a:endParaRPr lang="en-GB" sz="1400" i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979B2-30DF-199A-8465-68D3202CC470}"/>
              </a:ext>
            </a:extLst>
          </p:cNvPr>
          <p:cNvSpPr txBox="1"/>
          <p:nvPr/>
        </p:nvSpPr>
        <p:spPr>
          <a:xfrm>
            <a:off x="165327" y="5781723"/>
            <a:ext cx="900316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4772" indent="-328361">
              <a:buClr>
                <a:schemeClr val="lt1"/>
              </a:buClr>
              <a:buSzPts val="2100"/>
              <a:buFont typeface="Lexend"/>
              <a:buChar char="●"/>
            </a:pPr>
            <a:endParaRPr lang="en-GB" sz="16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  <a:p>
            <a:r>
              <a:rPr lang="en-GB" sz="1200" u="sng"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https://digital.nhs.uk/blog/data-points-blog/2023/why-were-getting-our-data-teams-to-rap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</a:p>
          <a:p>
            <a:endParaRPr lang="en-GB" sz="1200">
              <a:latin typeface="Lexend"/>
              <a:ea typeface="Lexend"/>
              <a:cs typeface="Lexend"/>
              <a:sym typeface="Lexend"/>
            </a:endParaRPr>
          </a:p>
          <a:p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Slide taken from Health Service Modelling Associates Training Course</a:t>
            </a:r>
          </a:p>
        </p:txBody>
      </p:sp>
    </p:spTree>
    <p:extLst>
      <p:ext uri="{BB962C8B-B14F-4D97-AF65-F5344CB8AC3E}">
        <p14:creationId xmlns:p14="http://schemas.microsoft.com/office/powerpoint/2010/main" val="341834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93DDE78-D9C4-B151-132D-8407FDC8ED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374" y="155884"/>
            <a:ext cx="11404154" cy="865186"/>
          </a:xfrm>
        </p:spPr>
        <p:txBody>
          <a:bodyPr/>
          <a:lstStyle/>
          <a:p>
            <a:r>
              <a:rPr lang="en-GB"/>
              <a:t>Example of why GitHub is useful to us</a:t>
            </a:r>
          </a:p>
        </p:txBody>
      </p:sp>
      <p:pic>
        <p:nvPicPr>
          <p:cNvPr id="1026" name="Picture 2" descr="MSSQL-Scripter Tool to Generate Scripts for SQL Server Objects -  MSSQLTips.com">
            <a:extLst>
              <a:ext uri="{FF2B5EF4-FFF2-40B4-BE49-F238E27FC236}">
                <a16:creationId xmlns:a16="http://schemas.microsoft.com/office/drawing/2014/main" id="{B0AF8431-7464-5ABD-6B63-AA1169043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70" y="2265003"/>
            <a:ext cx="3285823" cy="223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4CF8F2-8086-083F-6D1F-7239687E0258}"/>
              </a:ext>
            </a:extLst>
          </p:cNvPr>
          <p:cNvSpPr txBox="1"/>
          <p:nvPr/>
        </p:nvSpPr>
        <p:spPr>
          <a:xfrm>
            <a:off x="148557" y="1112678"/>
            <a:ext cx="35753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SQL script that is run monthly.</a:t>
            </a:r>
          </a:p>
          <a:p>
            <a:r>
              <a:rPr lang="en-GB"/>
              <a:t>Multiple changes have been requested to this script.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62091F-5FBA-A175-DA46-65C3B2B10BEA}"/>
              </a:ext>
            </a:extLst>
          </p:cNvPr>
          <p:cNvSpPr txBox="1"/>
          <p:nvPr/>
        </p:nvSpPr>
        <p:spPr>
          <a:xfrm>
            <a:off x="3682711" y="1112678"/>
            <a:ext cx="34510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Without GitHub, keeping track of changes</a:t>
            </a:r>
            <a:r>
              <a:rPr lang="en-GB" i="1"/>
              <a:t> </a:t>
            </a:r>
            <a:r>
              <a:rPr lang="en-GB"/>
              <a:t>could</a:t>
            </a:r>
            <a:r>
              <a:rPr lang="en-GB" i="1"/>
              <a:t> </a:t>
            </a:r>
            <a:r>
              <a:rPr lang="en-GB"/>
              <a:t>look something like this: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2C99AC-3EDC-C2AB-7C84-0ED8C3FF7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597" y="2281961"/>
            <a:ext cx="2166688" cy="26726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9FDD044-977B-39A2-DF4C-29D15BBA532B}"/>
              </a:ext>
            </a:extLst>
          </p:cNvPr>
          <p:cNvSpPr txBox="1"/>
          <p:nvPr/>
        </p:nvSpPr>
        <p:spPr>
          <a:xfrm>
            <a:off x="7477750" y="1135567"/>
            <a:ext cx="37802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/>
              <a:t>With GitHub, the record of changes made could look like this: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1E4FCA7-E680-21BC-1654-7B8E04E434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2796" r="48320"/>
          <a:stretch/>
        </p:blipFill>
        <p:spPr>
          <a:xfrm>
            <a:off x="7562275" y="1833101"/>
            <a:ext cx="3611166" cy="31561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CFB9859-6641-1779-1A02-5B619FFA653C}"/>
              </a:ext>
            </a:extLst>
          </p:cNvPr>
          <p:cNvSpPr txBox="1"/>
          <p:nvPr/>
        </p:nvSpPr>
        <p:spPr>
          <a:xfrm>
            <a:off x="3495501" y="4990254"/>
            <a:ext cx="3451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Which is the version to use?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Not easy to see what has changed between each version.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DAEDB2-056F-0149-FAA8-DF0AD824E9BB}"/>
              </a:ext>
            </a:extLst>
          </p:cNvPr>
          <p:cNvSpPr txBox="1"/>
          <p:nvPr/>
        </p:nvSpPr>
        <p:spPr>
          <a:xfrm>
            <a:off x="6956213" y="4958221"/>
            <a:ext cx="52357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Only one version of the script but each change is recorded.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Older versions can easily be viewed and restored.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/>
              <a:t>Clicking on each commit will show you a view that highlights exactly which parts have changed.</a:t>
            </a:r>
          </a:p>
        </p:txBody>
      </p:sp>
    </p:spTree>
    <p:extLst>
      <p:ext uri="{BB962C8B-B14F-4D97-AF65-F5344CB8AC3E}">
        <p14:creationId xmlns:p14="http://schemas.microsoft.com/office/powerpoint/2010/main" val="179720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A6F136-ACD4-C0E0-D10E-77CAB18508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297186"/>
            <a:ext cx="11088000" cy="865186"/>
          </a:xfrm>
        </p:spPr>
        <p:txBody>
          <a:bodyPr>
            <a:normAutofit fontScale="77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 repository is a place that contains all your code and files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It is best practice to create a separate repository for each project.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Here is an example repository: the South East teaching repository that we will use as part of these sessions.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6B41CFF-4292-5C9C-2FD1-54B9117E6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a repository?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8DEAD3-BF1D-7993-26CD-9C51AB5E88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838" y="2398722"/>
            <a:ext cx="5659223" cy="352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344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AD2AAA-D47B-5746-2B14-B840546ED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999" y="1385888"/>
            <a:ext cx="9154913" cy="4842111"/>
          </a:xfrm>
        </p:spPr>
        <p:txBody>
          <a:bodyPr>
            <a:normAutofit lnSpcReduction="10000"/>
          </a:bodyPr>
          <a:lstStyle/>
          <a:p>
            <a:r>
              <a:rPr lang="en-GB" b="1"/>
              <a:t>What is cloning a repository?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Cloning a Git repository means creating a local copy of a remote repository on your computer.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Once you have cloned a repository, you can start working on the project, making changes, and committing them to your local repository without changing the remote repository.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r>
              <a:rPr lang="en-GB" b="1"/>
              <a:t>Why clone a repository?</a:t>
            </a:r>
            <a:endParaRPr lang="en-GB" b="1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i="1">
                <a:solidFill>
                  <a:srgbClr val="212529"/>
                </a:solidFill>
                <a:effectLst/>
                <a:latin typeface="+mj-lt"/>
              </a:rPr>
              <a:t>Contribute to group projects </a:t>
            </a:r>
            <a:r>
              <a:rPr lang="en-GB">
                <a:solidFill>
                  <a:srgbClr val="212529"/>
                </a:solidFill>
                <a:effectLst/>
                <a:latin typeface="+mj-lt"/>
              </a:rPr>
              <a:t>- where multiple people work on the same code base, cloning enables individuals to edi</a:t>
            </a:r>
            <a:r>
              <a:rPr lang="en-GB">
                <a:solidFill>
                  <a:srgbClr val="212529"/>
                </a:solidFill>
                <a:latin typeface="+mj-lt"/>
              </a:rPr>
              <a:t>t the code without impacting on other users.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100" b="1" i="1">
                <a:solidFill>
                  <a:srgbClr val="212529"/>
                </a:solidFill>
                <a:latin typeface="+mj-lt"/>
              </a:rPr>
              <a:t>Make use of Open Source Repositories </a:t>
            </a:r>
            <a:r>
              <a:rPr lang="en-GB" sz="2100">
                <a:solidFill>
                  <a:srgbClr val="212529"/>
                </a:solidFill>
                <a:latin typeface="+mj-lt"/>
              </a:rPr>
              <a:t>–</a:t>
            </a:r>
            <a:r>
              <a:rPr lang="en-GB" sz="2100" b="1" i="1">
                <a:solidFill>
                  <a:srgbClr val="212529"/>
                </a:solidFill>
                <a:latin typeface="+mj-lt"/>
              </a:rPr>
              <a:t> </a:t>
            </a:r>
            <a:r>
              <a:rPr lang="en-GB" sz="2100">
                <a:solidFill>
                  <a:srgbClr val="212529"/>
                </a:solidFill>
                <a:latin typeface="+mj-lt"/>
              </a:rPr>
              <a:t>enables you to use and edit functionality from other open source repositories.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0BCBAE8-21E1-D942-395E-398FA3844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Cloning a repository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9BF380-B69F-2AC3-3EC8-AA2542B056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275" y="1027705"/>
            <a:ext cx="3133725" cy="5038725"/>
          </a:xfrm>
          <a:prstGeom prst="rect">
            <a:avLst/>
          </a:prstGeom>
        </p:spPr>
      </p:pic>
      <p:pic>
        <p:nvPicPr>
          <p:cNvPr id="5" name="Graphic 4" descr="Cloud with solid fill">
            <a:extLst>
              <a:ext uri="{FF2B5EF4-FFF2-40B4-BE49-F238E27FC236}">
                <a16:creationId xmlns:a16="http://schemas.microsoft.com/office/drawing/2014/main" id="{3CDE1D41-B07C-D79B-540D-C3A81D28C9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09960" y="2396174"/>
            <a:ext cx="1018032" cy="1018032"/>
          </a:xfrm>
          <a:prstGeom prst="rect">
            <a:avLst/>
          </a:prstGeom>
        </p:spPr>
      </p:pic>
      <p:pic>
        <p:nvPicPr>
          <p:cNvPr id="7" name="Graphic 6" descr="Laptop with solid fill">
            <a:extLst>
              <a:ext uri="{FF2B5EF4-FFF2-40B4-BE49-F238E27FC236}">
                <a16:creationId xmlns:a16="http://schemas.microsoft.com/office/drawing/2014/main" id="{15A80ED4-0533-3BF5-F86B-6FA3B21A57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161776" y="47091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53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233B72-0B15-CE56-25E1-EF1C6503C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2180843"/>
            <a:ext cx="11088000" cy="4047156"/>
          </a:xfrm>
        </p:spPr>
        <p:txBody>
          <a:bodyPr>
            <a:normAutofit/>
          </a:bodyPr>
          <a:lstStyle/>
          <a:p>
            <a:endParaRPr lang="en-GB" sz="1800" b="1"/>
          </a:p>
          <a:p>
            <a:r>
              <a:rPr lang="en-GB" sz="1800" b="1"/>
              <a:t>Analogy (a non-tree version)</a:t>
            </a:r>
          </a:p>
          <a:p>
            <a:endParaRPr lang="en-GB" sz="180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0CE230A-1FBE-E2DD-7DEB-6D48E768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Branching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B51D63-86BB-8DCF-2FD6-A37B3F88B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53" y="2981541"/>
            <a:ext cx="2095500" cy="16763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230E07E-5BE6-D9C3-60CE-62D2B86FFF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8907" y="3012867"/>
            <a:ext cx="2095500" cy="1676400"/>
          </a:xfrm>
          <a:prstGeom prst="rect">
            <a:avLst/>
          </a:prstGeom>
        </p:spPr>
      </p:pic>
      <p:pic>
        <p:nvPicPr>
          <p:cNvPr id="4100" name="Picture 4" descr="Main and blue and red branches">
            <a:extLst>
              <a:ext uri="{FF2B5EF4-FFF2-40B4-BE49-F238E27FC236}">
                <a16:creationId xmlns:a16="http://schemas.microsoft.com/office/drawing/2014/main" id="{DAAE36FB-6434-F908-33AE-B1BD564FB0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041" y="2128059"/>
            <a:ext cx="209550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CA6BFC-2B55-AA2C-45CF-F64F7C261E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1298" y="3472242"/>
            <a:ext cx="2095500" cy="1676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4C5984-3941-7114-9B7F-A2885EC436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62986" y="2289866"/>
            <a:ext cx="3022672" cy="270374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A85F93B-B9C8-463A-D1C8-5A71552532EE}"/>
              </a:ext>
            </a:extLst>
          </p:cNvPr>
          <p:cNvSpPr txBox="1"/>
          <p:nvPr/>
        </p:nvSpPr>
        <p:spPr>
          <a:xfrm>
            <a:off x="678653" y="4464834"/>
            <a:ext cx="16840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The main repository (the Lego base plate) branch. </a:t>
            </a:r>
          </a:p>
          <a:p>
            <a:endParaRPr lang="en-GB" sz="1200"/>
          </a:p>
          <a:p>
            <a:r>
              <a:rPr lang="en-GB" sz="1200"/>
              <a:t>Usually called the </a:t>
            </a:r>
            <a:r>
              <a:rPr lang="en-GB" sz="1200">
                <a:latin typeface="Segoe UI" panose="020B0502040204020203" pitchFamily="34" charset="0"/>
                <a:cs typeface="Segoe UI" panose="020B0502040204020203" pitchFamily="34" charset="0"/>
              </a:rPr>
              <a:t>main</a:t>
            </a:r>
            <a:r>
              <a:rPr lang="en-GB" sz="1200"/>
              <a:t> (or historically master) branch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DC2435-41ED-6E9D-D6B5-7214FB67E032}"/>
              </a:ext>
            </a:extLst>
          </p:cNvPr>
          <p:cNvSpPr txBox="1"/>
          <p:nvPr/>
        </p:nvSpPr>
        <p:spPr>
          <a:xfrm>
            <a:off x="2678906" y="4388634"/>
            <a:ext cx="226024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When you create a branch of main, you add a brick. </a:t>
            </a:r>
          </a:p>
          <a:p>
            <a:endParaRPr lang="en-GB" sz="1200"/>
          </a:p>
          <a:p>
            <a:r>
              <a:rPr lang="en-GB" sz="1200"/>
              <a:t>We called this branch </a:t>
            </a:r>
            <a:r>
              <a:rPr lang="en-GB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blue</a:t>
            </a:r>
            <a:r>
              <a:rPr lang="en-GB" sz="1200"/>
              <a:t>.</a:t>
            </a:r>
          </a:p>
          <a:p>
            <a:endParaRPr lang="en-GB" sz="1200"/>
          </a:p>
          <a:p>
            <a:r>
              <a:rPr lang="en-GB" sz="1200"/>
              <a:t>This branch contains the history of the base plate plus any additional work on </a:t>
            </a:r>
            <a:r>
              <a:rPr lang="en-GB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blue</a:t>
            </a:r>
            <a:r>
              <a:rPr lang="en-GB" sz="1200"/>
              <a:t>.</a:t>
            </a:r>
            <a:endParaRPr lang="en-GB" sz="1200">
              <a:solidFill>
                <a:schemeClr val="accent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9BBC57A-0844-F96A-B78C-A0C97BED6A08}"/>
              </a:ext>
            </a:extLst>
          </p:cNvPr>
          <p:cNvSpPr txBox="1"/>
          <p:nvPr/>
        </p:nvSpPr>
        <p:spPr>
          <a:xfrm>
            <a:off x="1950236" y="3187187"/>
            <a:ext cx="107378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/>
              <a:t>branch off main </a:t>
            </a:r>
            <a:br>
              <a:rPr lang="en-GB" sz="1000"/>
            </a:br>
            <a:r>
              <a:rPr lang="en-GB" sz="1000"/>
              <a:t>(simple branch)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6C3770-F531-B5F5-85E7-AD1EF44122DD}"/>
              </a:ext>
            </a:extLst>
          </p:cNvPr>
          <p:cNvSpPr txBox="1"/>
          <p:nvPr/>
        </p:nvSpPr>
        <p:spPr>
          <a:xfrm>
            <a:off x="5385911" y="3269437"/>
            <a:ext cx="20316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You can also create branches of branches which build out new features starting from the </a:t>
            </a:r>
            <a:r>
              <a:rPr lang="en-GB" sz="1200">
                <a:solidFill>
                  <a:schemeClr val="accent1"/>
                </a:solidFill>
              </a:rPr>
              <a:t>blue</a:t>
            </a:r>
            <a:r>
              <a:rPr lang="en-GB" sz="1200"/>
              <a:t> </a:t>
            </a:r>
            <a:r>
              <a:rPr lang="en-GB" sz="1200">
                <a:latin typeface="+mj-lt"/>
              </a:rPr>
              <a:t>branch.</a:t>
            </a:r>
          </a:p>
          <a:p>
            <a:endParaRPr lang="en-GB" sz="120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GB" sz="1200">
                <a:latin typeface="+mj-lt"/>
                <a:cs typeface="Segoe UI" panose="020B0502040204020203" pitchFamily="34" charset="0"/>
              </a:rPr>
              <a:t>Here we add another brick called </a:t>
            </a:r>
            <a:r>
              <a:rPr lang="en-GB" sz="120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</a:t>
            </a:r>
            <a:r>
              <a:rPr lang="en-GB" sz="1200">
                <a:solidFill>
                  <a:srgbClr val="FF0000"/>
                </a:solidFill>
                <a:latin typeface="+mj-lt"/>
                <a:cs typeface="Segoe UI" panose="020B0502040204020203" pitchFamily="34" charset="0"/>
              </a:rPr>
              <a:t> </a:t>
            </a:r>
            <a:r>
              <a:rPr lang="en-GB" sz="1200">
                <a:latin typeface="+mj-lt"/>
                <a:cs typeface="Segoe UI" panose="020B0502040204020203" pitchFamily="34" charset="0"/>
              </a:rPr>
              <a:t>on top of </a:t>
            </a:r>
            <a:r>
              <a:rPr lang="en-GB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blue.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9850CC-93BA-4CF1-1027-3A753AE5F671}"/>
              </a:ext>
            </a:extLst>
          </p:cNvPr>
          <p:cNvSpPr txBox="1"/>
          <p:nvPr/>
        </p:nvSpPr>
        <p:spPr>
          <a:xfrm>
            <a:off x="4276201" y="2742674"/>
            <a:ext cx="10737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/>
              <a:t>branch off </a:t>
            </a:r>
            <a:br>
              <a:rPr lang="en-GB" sz="1000"/>
            </a:br>
            <a:r>
              <a:rPr lang="en-GB" sz="1000">
                <a:solidFill>
                  <a:schemeClr val="accent1"/>
                </a:solidFill>
              </a:rPr>
              <a:t>blue</a:t>
            </a:r>
          </a:p>
          <a:p>
            <a:pPr algn="ctr"/>
            <a:r>
              <a:rPr lang="en-GB" sz="1000"/>
              <a:t>(branch of a branch)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490311C-7325-E6B8-2C01-32FECFCD49BD}"/>
              </a:ext>
            </a:extLst>
          </p:cNvPr>
          <p:cNvSpPr txBox="1"/>
          <p:nvPr/>
        </p:nvSpPr>
        <p:spPr>
          <a:xfrm>
            <a:off x="7311610" y="4677157"/>
            <a:ext cx="203168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>
                <a:latin typeface="+mj-lt"/>
              </a:rPr>
              <a:t>You can create multiple branches from the same branch. Useful when developing separate features.</a:t>
            </a:r>
            <a:endParaRPr lang="en-GB" sz="120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GB" sz="1200">
                <a:latin typeface="+mj-lt"/>
                <a:cs typeface="Segoe UI" panose="020B0502040204020203" pitchFamily="34" charset="0"/>
              </a:rPr>
              <a:t>In this example, we add a </a:t>
            </a:r>
            <a:r>
              <a:rPr lang="en-GB" sz="120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red</a:t>
            </a:r>
            <a:r>
              <a:rPr lang="en-GB" sz="120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sz="1200">
                <a:latin typeface="+mj-lt"/>
                <a:cs typeface="Segoe UI" panose="020B0502040204020203" pitchFamily="34" charset="0"/>
              </a:rPr>
              <a:t>brick on top of main and in parallel to </a:t>
            </a:r>
            <a:r>
              <a:rPr lang="en-GB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blue.</a:t>
            </a:r>
          </a:p>
        </p:txBody>
      </p: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F1F38703-0551-133A-39FD-ED616493B9E2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4387925" y="4002460"/>
            <a:ext cx="2923685" cy="1459527"/>
          </a:xfrm>
          <a:prstGeom prst="curvedConnector3">
            <a:avLst>
              <a:gd name="adj1" fmla="val 28466"/>
            </a:avLst>
          </a:prstGeom>
          <a:ln w="476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Free-form: Shape 41">
            <a:extLst>
              <a:ext uri="{FF2B5EF4-FFF2-40B4-BE49-F238E27FC236}">
                <a16:creationId xmlns:a16="http://schemas.microsoft.com/office/drawing/2014/main" id="{6B0664C5-FFC1-DEE9-6C33-009C671216F7}"/>
              </a:ext>
            </a:extLst>
          </p:cNvPr>
          <p:cNvSpPr/>
          <p:nvPr/>
        </p:nvSpPr>
        <p:spPr>
          <a:xfrm>
            <a:off x="4064794" y="2609466"/>
            <a:ext cx="1621631" cy="962409"/>
          </a:xfrm>
          <a:custGeom>
            <a:avLst/>
            <a:gdLst>
              <a:gd name="connsiteX0" fmla="*/ 0 w 1621631"/>
              <a:gd name="connsiteY0" fmla="*/ 962409 h 962409"/>
              <a:gd name="connsiteX1" fmla="*/ 457200 w 1621631"/>
              <a:gd name="connsiteY1" fmla="*/ 40865 h 962409"/>
              <a:gd name="connsiteX2" fmla="*/ 1621631 w 1621631"/>
              <a:gd name="connsiteY2" fmla="*/ 248034 h 9624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21631" h="962409">
                <a:moveTo>
                  <a:pt x="0" y="962409"/>
                </a:moveTo>
                <a:cubicBezTo>
                  <a:pt x="93464" y="561168"/>
                  <a:pt x="186928" y="159927"/>
                  <a:pt x="457200" y="40865"/>
                </a:cubicBezTo>
                <a:cubicBezTo>
                  <a:pt x="727472" y="-78197"/>
                  <a:pt x="1174551" y="84918"/>
                  <a:pt x="1621631" y="248034"/>
                </a:cubicBezTo>
              </a:path>
            </a:pathLst>
          </a:custGeom>
          <a:noFill/>
          <a:ln w="47625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Free-form: Shape 42">
            <a:extLst>
              <a:ext uri="{FF2B5EF4-FFF2-40B4-BE49-F238E27FC236}">
                <a16:creationId xmlns:a16="http://schemas.microsoft.com/office/drawing/2014/main" id="{881961DC-3852-7E19-2BC2-BE40B143CE45}"/>
              </a:ext>
            </a:extLst>
          </p:cNvPr>
          <p:cNvSpPr/>
          <p:nvPr/>
        </p:nvSpPr>
        <p:spPr>
          <a:xfrm>
            <a:off x="1311639" y="3132944"/>
            <a:ext cx="2181069" cy="367259"/>
          </a:xfrm>
          <a:custGeom>
            <a:avLst/>
            <a:gdLst>
              <a:gd name="connsiteX0" fmla="*/ 0 w 2181069"/>
              <a:gd name="connsiteY0" fmla="*/ 367259 h 367259"/>
              <a:gd name="connsiteX1" fmla="*/ 1139253 w 2181069"/>
              <a:gd name="connsiteY1" fmla="*/ 0 h 367259"/>
              <a:gd name="connsiteX2" fmla="*/ 2181069 w 2181069"/>
              <a:gd name="connsiteY2" fmla="*/ 367259 h 367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81069" h="367259">
                <a:moveTo>
                  <a:pt x="0" y="367259"/>
                </a:moveTo>
                <a:cubicBezTo>
                  <a:pt x="387871" y="183629"/>
                  <a:pt x="775742" y="0"/>
                  <a:pt x="1139253" y="0"/>
                </a:cubicBezTo>
                <a:cubicBezTo>
                  <a:pt x="1502764" y="0"/>
                  <a:pt x="1841916" y="183629"/>
                  <a:pt x="2181069" y="367259"/>
                </a:cubicBezTo>
              </a:path>
            </a:pathLst>
          </a:custGeom>
          <a:noFill/>
          <a:ln w="47625">
            <a:solidFill>
              <a:schemeClr val="accent1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1B7DB3E-ABEE-46DF-35EC-71955E00E12D}"/>
              </a:ext>
            </a:extLst>
          </p:cNvPr>
          <p:cNvSpPr txBox="1"/>
          <p:nvPr/>
        </p:nvSpPr>
        <p:spPr>
          <a:xfrm>
            <a:off x="9513093" y="4061701"/>
            <a:ext cx="24536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>
                <a:latin typeface="+mj-lt"/>
                <a:cs typeface="Segoe UI" panose="020B0502040204020203" pitchFamily="34" charset="0"/>
              </a:rPr>
              <a:t>Based on these concepts you can develop several child branches based on the parent branches.</a:t>
            </a:r>
          </a:p>
          <a:p>
            <a:endParaRPr lang="en-GB" sz="1200">
              <a:solidFill>
                <a:schemeClr val="accent1"/>
              </a:solidFill>
              <a:latin typeface="+mj-lt"/>
              <a:cs typeface="Segoe UI" panose="020B0502040204020203" pitchFamily="34" charset="0"/>
            </a:endParaRPr>
          </a:p>
          <a:p>
            <a:r>
              <a:rPr lang="en-GB" sz="1200">
                <a:latin typeface="+mj-lt"/>
                <a:cs typeface="Segoe UI" panose="020B0502040204020203" pitchFamily="34" charset="0"/>
              </a:rPr>
              <a:t>Once development of branches is complete, these are merged back up the tree to the </a:t>
            </a:r>
            <a:r>
              <a:rPr lang="en-GB" sz="1200">
                <a:latin typeface="Segoe UI" panose="020B0502040204020203" pitchFamily="34" charset="0"/>
                <a:cs typeface="Segoe UI" panose="020B0502040204020203" pitchFamily="34" charset="0"/>
              </a:rPr>
              <a:t>main</a:t>
            </a:r>
            <a:r>
              <a:rPr lang="en-GB" sz="1200">
                <a:latin typeface="+mj-lt"/>
                <a:cs typeface="Segoe UI" panose="020B0502040204020203" pitchFamily="34" charset="0"/>
              </a:rPr>
              <a:t> branch.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F71500E-94B8-D0CE-049C-073D49357EF7}"/>
              </a:ext>
            </a:extLst>
          </p:cNvPr>
          <p:cNvSpPr txBox="1"/>
          <p:nvPr/>
        </p:nvSpPr>
        <p:spPr>
          <a:xfrm>
            <a:off x="5417945" y="5353458"/>
            <a:ext cx="107378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000"/>
              <a:t>branch off </a:t>
            </a:r>
            <a:br>
              <a:rPr lang="en-GB" sz="1000"/>
            </a:br>
            <a:r>
              <a:rPr lang="en-GB" sz="1000"/>
              <a:t>main</a:t>
            </a:r>
            <a:endParaRPr lang="en-GB" sz="1000">
              <a:solidFill>
                <a:schemeClr val="accent1"/>
              </a:solidFill>
            </a:endParaRPr>
          </a:p>
          <a:p>
            <a:pPr algn="ctr"/>
            <a:r>
              <a:rPr lang="en-GB" sz="1000"/>
              <a:t>(parallel branch)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83E7A9-A83C-5EF5-CBCC-899F620C23E2}"/>
              </a:ext>
            </a:extLst>
          </p:cNvPr>
          <p:cNvSpPr txBox="1"/>
          <p:nvPr/>
        </p:nvSpPr>
        <p:spPr>
          <a:xfrm>
            <a:off x="311627" y="6426000"/>
            <a:ext cx="986669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900"/>
              <a:t>Lego analogy: </a:t>
            </a:r>
            <a:r>
              <a:rPr lang="en-GB" sz="900">
                <a:hlinkClick r:id="rId8"/>
              </a:rPr>
              <a:t>https://opensource.com/article/22/4/git-branches</a:t>
            </a:r>
            <a:endParaRPr lang="en-GB" sz="9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9A0499-4F86-63EA-EF5D-567ADFC0A3F3}"/>
              </a:ext>
            </a:extLst>
          </p:cNvPr>
          <p:cNvSpPr txBox="1"/>
          <p:nvPr/>
        </p:nvSpPr>
        <p:spPr>
          <a:xfrm>
            <a:off x="355846" y="1084007"/>
            <a:ext cx="117298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/>
              <a:t>What is branching and why do we use it?</a:t>
            </a:r>
          </a:p>
          <a:p>
            <a:r>
              <a:rPr lang="en-GB" sz="1800"/>
              <a:t>A branch is a new/separate version of the main repository. Branches allow you to work on different parts of a project without impacting the main repository. When the work is complete, a branch can be merged with the main repository.</a:t>
            </a:r>
            <a:endParaRPr lang="en-GB" sz="18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58392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13" grpId="0"/>
      <p:bldP spid="14" grpId="0"/>
      <p:bldP spid="17" grpId="0"/>
      <p:bldP spid="18" grpId="0"/>
      <p:bldP spid="20" grpId="0"/>
      <p:bldP spid="24" grpId="0"/>
      <p:bldP spid="42" grpId="0" animBg="1"/>
      <p:bldP spid="43" grpId="0" animBg="1"/>
      <p:bldP spid="46" grpId="0"/>
      <p:bldP spid="47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AB0189-B93D-86AE-6654-D99A93FB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Fetching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02E328-D738-9627-0CDE-9D1FDAD6B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5132" y="160566"/>
            <a:ext cx="1830270" cy="1564881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34EA17FC-72F7-D112-D39B-40735507FFBC}"/>
              </a:ext>
            </a:extLst>
          </p:cNvPr>
          <p:cNvGrpSpPr/>
          <p:nvPr/>
        </p:nvGrpSpPr>
        <p:grpSpPr>
          <a:xfrm>
            <a:off x="5305778" y="1853363"/>
            <a:ext cx="6691178" cy="4448704"/>
            <a:chOff x="1114467" y="1173163"/>
            <a:chExt cx="8500533" cy="5478859"/>
          </a:xfrm>
        </p:grpSpPr>
        <p:pic>
          <p:nvPicPr>
            <p:cNvPr id="2050" name="Picture 2" descr="Git Pull and Git Fetch: Understanding the Differences">
              <a:extLst>
                <a:ext uri="{FF2B5EF4-FFF2-40B4-BE49-F238E27FC236}">
                  <a16:creationId xmlns:a16="http://schemas.microsoft.com/office/drawing/2014/main" id="{4690067D-7697-DC1E-088F-6E1E8F3DB1C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4467" y="1173163"/>
              <a:ext cx="8500533" cy="5478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C9DEDB4-67B1-2F70-2D64-89F81C305534}"/>
                </a:ext>
              </a:extLst>
            </p:cNvPr>
            <p:cNvSpPr/>
            <p:nvPr/>
          </p:nvSpPr>
          <p:spPr>
            <a:xfrm>
              <a:off x="3973689" y="2573867"/>
              <a:ext cx="1388533" cy="1063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6D0858B-2FAF-5A2A-F570-329414DC0BCF}"/>
                </a:ext>
              </a:extLst>
            </p:cNvPr>
            <p:cNvSpPr/>
            <p:nvPr/>
          </p:nvSpPr>
          <p:spPr>
            <a:xfrm>
              <a:off x="4476044" y="3835317"/>
              <a:ext cx="1721556" cy="127668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9F43FE9-B825-DFC5-3D3E-C331FF5EC05C}"/>
                </a:ext>
              </a:extLst>
            </p:cNvPr>
            <p:cNvSpPr/>
            <p:nvPr/>
          </p:nvSpPr>
          <p:spPr>
            <a:xfrm>
              <a:off x="5616222" y="5111998"/>
              <a:ext cx="1388533" cy="1063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B378515-CF00-3123-2858-0D1DE8B0DF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93" y="1214246"/>
            <a:ext cx="4715733" cy="5087821"/>
          </a:xfrm>
        </p:spPr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This step is important to do to make sure your local version is up to date with changes others have made to the repository.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Fetch allows you to review what changes have been made in the remote repository before adding those changes to your local version.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The alternative option is to pull. However, this automatically makes those changes from the remote repository to your local version.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Fetch is the safer option so you can see what the changes are before adopting them.</a:t>
            </a:r>
          </a:p>
        </p:txBody>
      </p:sp>
    </p:spTree>
    <p:extLst>
      <p:ext uri="{BB962C8B-B14F-4D97-AF65-F5344CB8AC3E}">
        <p14:creationId xmlns:p14="http://schemas.microsoft.com/office/powerpoint/2010/main" val="109653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AB0189-B93D-86AE-6654-D99A93FB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Staging, Committing and Pushing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2889388-C48E-8467-081D-7A6D8AD5089D}"/>
              </a:ext>
            </a:extLst>
          </p:cNvPr>
          <p:cNvGrpSpPr/>
          <p:nvPr/>
        </p:nvGrpSpPr>
        <p:grpSpPr>
          <a:xfrm>
            <a:off x="5418666" y="1489253"/>
            <a:ext cx="6510556" cy="4550304"/>
            <a:chOff x="1114467" y="1173163"/>
            <a:chExt cx="8500533" cy="5478859"/>
          </a:xfrm>
        </p:grpSpPr>
        <p:pic>
          <p:nvPicPr>
            <p:cNvPr id="5" name="Picture 2" descr="Git Pull and Git Fetch: Understanding the Differences">
              <a:extLst>
                <a:ext uri="{FF2B5EF4-FFF2-40B4-BE49-F238E27FC236}">
                  <a16:creationId xmlns:a16="http://schemas.microsoft.com/office/drawing/2014/main" id="{880E8C60-00F3-AED8-EBA1-BDEA0CF66E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4467" y="1173163"/>
              <a:ext cx="8500533" cy="54788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6195197-065B-5DA1-9815-C966F24ACCEF}"/>
                </a:ext>
              </a:extLst>
            </p:cNvPr>
            <p:cNvSpPr/>
            <p:nvPr/>
          </p:nvSpPr>
          <p:spPr>
            <a:xfrm>
              <a:off x="6414821" y="2723244"/>
              <a:ext cx="2525979" cy="15552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D3D8C50-D896-2AA9-A92C-EB0ADF9A9154}"/>
                </a:ext>
              </a:extLst>
            </p:cNvPr>
            <p:cNvSpPr/>
            <p:nvPr/>
          </p:nvSpPr>
          <p:spPr>
            <a:xfrm>
              <a:off x="6959599" y="4134757"/>
              <a:ext cx="2525978" cy="14204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261ECEB-4768-5C30-6B3F-BA40C9DF9675}"/>
                </a:ext>
              </a:extLst>
            </p:cNvPr>
            <p:cNvSpPr/>
            <p:nvPr/>
          </p:nvSpPr>
          <p:spPr>
            <a:xfrm>
              <a:off x="5277376" y="1659926"/>
              <a:ext cx="3663424" cy="106331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BF1B608-9514-3163-C710-BA47B3BA8EE9}"/>
                </a:ext>
              </a:extLst>
            </p:cNvPr>
            <p:cNvSpPr/>
            <p:nvPr/>
          </p:nvSpPr>
          <p:spPr>
            <a:xfrm>
              <a:off x="7857066" y="5555170"/>
              <a:ext cx="1162756" cy="54842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DF166F4-D4C1-C801-DE32-EAF2982529EE}"/>
                </a:ext>
              </a:extLst>
            </p:cNvPr>
            <p:cNvSpPr/>
            <p:nvPr/>
          </p:nvSpPr>
          <p:spPr>
            <a:xfrm>
              <a:off x="6252245" y="3068895"/>
              <a:ext cx="2316222" cy="523825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b="1"/>
                <a:t>Staged changes</a:t>
              </a:r>
            </a:p>
          </p:txBody>
        </p:sp>
      </p:grpSp>
      <p:sp>
        <p:nvSpPr>
          <p:cNvPr id="16" name="Content Placeholder 1">
            <a:extLst>
              <a:ext uri="{FF2B5EF4-FFF2-40B4-BE49-F238E27FC236}">
                <a16:creationId xmlns:a16="http://schemas.microsoft.com/office/drawing/2014/main" id="{F804C779-CB2A-3990-821E-AEC1E1CAB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493" y="1214246"/>
            <a:ext cx="4715733" cy="5087821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Once you have made a change to a script you stage it, then commit it, and then finally push it to the remote repository.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/>
              <a:t>Before staging/committing/pushing files, check there isn’t anything sensitive that shouldn’t be shared. E.g. Data or outputs!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Staging allows you to group changes to different scripts that are related so they have the same commit description.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You may choose not to push committed changes immediately, e.g. you are still in the middle of making changes to scripts but you want to keep a record of the steps you took through several commits.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AE1BB53-A1D0-21B8-594D-C105E1D58385}"/>
              </a:ext>
            </a:extLst>
          </p:cNvPr>
          <p:cNvSpPr/>
          <p:nvPr/>
        </p:nvSpPr>
        <p:spPr>
          <a:xfrm>
            <a:off x="7486650" y="2806719"/>
            <a:ext cx="781050" cy="4350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/>
              <a:t>Stage</a:t>
            </a:r>
          </a:p>
        </p:txBody>
      </p:sp>
    </p:spTree>
    <p:extLst>
      <p:ext uri="{BB962C8B-B14F-4D97-AF65-F5344CB8AC3E}">
        <p14:creationId xmlns:p14="http://schemas.microsoft.com/office/powerpoint/2010/main" val="994305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CB190F-2A7F-5588-46C9-769C94456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297186"/>
            <a:ext cx="3543652" cy="493081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A pull request is how you make a request to merge a branch to another branch, e.g. main.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If there are no conflicts, you are able to merge the branch to main.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If there are conflicts, you have to resolve them before you can merge the branch to main.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B0189-B93D-86AE-6654-D99A93FB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Pull Requests</a:t>
            </a:r>
          </a:p>
        </p:txBody>
      </p:sp>
      <p:pic>
        <p:nvPicPr>
          <p:cNvPr id="1026" name="Picture 2" descr="How to Create a Git Branch and Pull Request">
            <a:extLst>
              <a:ext uri="{FF2B5EF4-FFF2-40B4-BE49-F238E27FC236}">
                <a16:creationId xmlns:a16="http://schemas.microsoft.com/office/drawing/2014/main" id="{86678AB1-3860-1451-2B6C-CB9ACCE538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277" y="1477618"/>
            <a:ext cx="7385877" cy="4154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6F53C2-8EC9-646C-5FDB-018ACB80E46B}"/>
              </a:ext>
            </a:extLst>
          </p:cNvPr>
          <p:cNvSpPr txBox="1"/>
          <p:nvPr/>
        </p:nvSpPr>
        <p:spPr>
          <a:xfrm>
            <a:off x="10336696" y="2354567"/>
            <a:ext cx="1338469" cy="954107"/>
          </a:xfrm>
          <a:prstGeom prst="rect">
            <a:avLst/>
          </a:prstGeom>
          <a:solidFill>
            <a:srgbClr val="A0A0A0"/>
          </a:solidFill>
        </p:spPr>
        <p:txBody>
          <a:bodyPr wrap="square" rtlCol="0">
            <a:spAutoFit/>
          </a:bodyPr>
          <a:lstStyle/>
          <a:p>
            <a:r>
              <a:rPr lang="en-GB" sz="1400"/>
              <a:t>Pull request and then merge branch to main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11594-F679-C0EC-273F-6B5F145735BC}"/>
              </a:ext>
            </a:extLst>
          </p:cNvPr>
          <p:cNvSpPr txBox="1"/>
          <p:nvPr/>
        </p:nvSpPr>
        <p:spPr>
          <a:xfrm>
            <a:off x="5055703" y="1937124"/>
            <a:ext cx="675861" cy="307777"/>
          </a:xfrm>
          <a:prstGeom prst="rect">
            <a:avLst/>
          </a:prstGeom>
          <a:solidFill>
            <a:srgbClr val="A1B8E1"/>
          </a:solidFill>
        </p:spPr>
        <p:txBody>
          <a:bodyPr wrap="square" rtlCol="0">
            <a:spAutoFit/>
          </a:bodyPr>
          <a:lstStyle/>
          <a:p>
            <a:r>
              <a:rPr lang="en-GB" sz="1400"/>
              <a:t>main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15E41F-3AD1-557B-DED0-EDB494A85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883" y="1426152"/>
            <a:ext cx="2095500" cy="16763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ED56DE-8628-D1C2-CFB4-C8E3E1DB5A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537" y="2723857"/>
            <a:ext cx="20955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3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E421DF-B909-F6FD-FCD0-6EBFA7551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464691"/>
            <a:ext cx="11088000" cy="410743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A </a:t>
            </a:r>
            <a:r>
              <a:rPr lang="en-GB" b="1" i="1" dirty="0"/>
              <a:t>.</a:t>
            </a:r>
            <a:r>
              <a:rPr lang="en-GB" b="1" i="1" dirty="0" err="1"/>
              <a:t>gitignore</a:t>
            </a:r>
            <a:r>
              <a:rPr lang="en-GB" dirty="0"/>
              <a:t> file is a plain text file that contains a list of all the specified files and folders from the project that Git should ignore and not track, e.g. data or your outputs.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Inside </a:t>
            </a:r>
            <a:r>
              <a:rPr lang="en-GB" i="1" dirty="0"/>
              <a:t>.</a:t>
            </a:r>
            <a:r>
              <a:rPr lang="en-GB" i="1" dirty="0" err="1"/>
              <a:t>gitignore</a:t>
            </a:r>
            <a:r>
              <a:rPr lang="en-GB" dirty="0"/>
              <a:t>, you can tell Git to ignore only a single file or a single folder by mentioning the name or pattern of that specific file or folder. You can also tell Git to ignore multiple files or folders using the same method.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Your repository should always have a .</a:t>
            </a:r>
            <a:r>
              <a:rPr lang="en-GB" b="1" dirty="0" err="1"/>
              <a:t>gitignore</a:t>
            </a:r>
            <a:r>
              <a:rPr lang="en-GB" b="1" dirty="0"/>
              <a:t> file in </a:t>
            </a:r>
            <a:br>
              <a:rPr lang="en-GB" b="1" dirty="0"/>
            </a:br>
            <a:r>
              <a:rPr lang="en-GB" b="1" dirty="0"/>
              <a:t>the root folder</a:t>
            </a:r>
            <a:r>
              <a:rPr lang="en-GB" dirty="0"/>
              <a:t> - the current </a:t>
            </a:r>
            <a:r>
              <a:rPr lang="en-GB" dirty="0">
                <a:hlinkClick r:id="rId3"/>
              </a:rPr>
              <a:t>SE D&amp;A template repository</a:t>
            </a:r>
            <a:br>
              <a:rPr lang="en-GB" dirty="0"/>
            </a:br>
            <a:r>
              <a:rPr lang="en-GB" dirty="0"/>
              <a:t>.</a:t>
            </a:r>
            <a:r>
              <a:rPr lang="en-GB" dirty="0" err="1"/>
              <a:t>gitignore</a:t>
            </a:r>
            <a:r>
              <a:rPr lang="en-GB" dirty="0"/>
              <a:t> file should cover most of what you may need.</a:t>
            </a:r>
          </a:p>
          <a:p>
            <a:endParaRPr lang="en-GB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EBB8A1-51D2-B96C-4C86-FCA1DE560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.</a:t>
            </a:r>
            <a:r>
              <a:rPr lang="en-GB" err="1"/>
              <a:t>gitignore</a:t>
            </a:r>
            <a:r>
              <a:rPr lang="en-GB"/>
              <a:t> file</a:t>
            </a:r>
          </a:p>
        </p:txBody>
      </p:sp>
      <p:pic>
        <p:nvPicPr>
          <p:cNvPr id="2052" name="Picture 4" descr=".gitignore // Игнорирование файлов и директорий в git - YouTube">
            <a:extLst>
              <a:ext uri="{FF2B5EF4-FFF2-40B4-BE49-F238E27FC236}">
                <a16:creationId xmlns:a16="http://schemas.microsoft.com/office/drawing/2014/main" id="{493C2CFE-D516-D422-8D62-4657C5DD6A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36" b="8519"/>
          <a:stretch/>
        </p:blipFill>
        <p:spPr bwMode="auto">
          <a:xfrm>
            <a:off x="8497924" y="2901506"/>
            <a:ext cx="3444956" cy="3178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2263FC-BD8B-BDA9-97D6-77AE520320B5}"/>
              </a:ext>
            </a:extLst>
          </p:cNvPr>
          <p:cNvSpPr txBox="1"/>
          <p:nvPr/>
        </p:nvSpPr>
        <p:spPr>
          <a:xfrm>
            <a:off x="8422006" y="6080476"/>
            <a:ext cx="22550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>
                <a:solidFill>
                  <a:schemeClr val="accent6"/>
                </a:solidFill>
              </a:rPr>
              <a:t>Example of a </a:t>
            </a:r>
            <a:r>
              <a:rPr lang="en-GB" sz="1100" i="1">
                <a:solidFill>
                  <a:schemeClr val="accent6"/>
                </a:solidFill>
              </a:rPr>
              <a:t>.</a:t>
            </a:r>
            <a:r>
              <a:rPr lang="en-GB" sz="1100" i="1" err="1">
                <a:solidFill>
                  <a:schemeClr val="accent6"/>
                </a:solidFill>
              </a:rPr>
              <a:t>gitignore</a:t>
            </a:r>
            <a:r>
              <a:rPr lang="en-GB" sz="1100" i="1">
                <a:solidFill>
                  <a:schemeClr val="accent6"/>
                </a:solidFill>
              </a:rPr>
              <a:t> </a:t>
            </a:r>
            <a:r>
              <a:rPr lang="en-GB" sz="1100">
                <a:solidFill>
                  <a:schemeClr val="accent6"/>
                </a:solidFill>
              </a:rPr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2618860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49F530-C8DB-A8E5-BD31-2A214C9AA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959199"/>
            <a:ext cx="11088000" cy="3456000"/>
          </a:xfrm>
        </p:spPr>
        <p:txBody>
          <a:bodyPr vert="horz" lIns="0" tIns="0" rIns="0" bIns="0" rtlCol="0" anchor="t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Databricks (</a:t>
            </a:r>
            <a:r>
              <a:rPr lang="en-US" dirty="0" err="1">
                <a:cs typeface="Arial"/>
              </a:rPr>
              <a:t>PySpark</a:t>
            </a:r>
            <a:r>
              <a:rPr lang="en-US" dirty="0">
                <a:cs typeface="Arial"/>
              </a:rPr>
              <a:t>) – </a:t>
            </a:r>
            <a:r>
              <a:rPr lang="en-US" dirty="0">
                <a:cs typeface="Arial"/>
                <a:hlinkClick r:id="rId3"/>
              </a:rPr>
              <a:t>guide</a:t>
            </a:r>
            <a:endParaRPr lang="en-US" dirty="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RStudio (R) – </a:t>
            </a:r>
            <a:r>
              <a:rPr lang="en-US" dirty="0">
                <a:cs typeface="Arial"/>
                <a:hlinkClick r:id="rId4"/>
              </a:rPr>
              <a:t>guide</a:t>
            </a:r>
            <a:endParaRPr lang="en-US" dirty="0"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cs typeface="Arial"/>
              </a:rPr>
              <a:t>Visual Studio Code (SQL, Python) – </a:t>
            </a:r>
            <a:r>
              <a:rPr lang="en-US" dirty="0">
                <a:cs typeface="Arial"/>
                <a:hlinkClick r:id="rId5"/>
              </a:rPr>
              <a:t>guide</a:t>
            </a:r>
            <a:endParaRPr lang="en-US" dirty="0">
              <a:cs typeface="Arial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F32B108-0AA9-EED6-E701-1B5C39465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Platforms that can use GitHub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15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706214B-A5BF-5F5D-C984-F62087BE06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627833"/>
            <a:ext cx="11088000" cy="4600166"/>
          </a:xfrm>
        </p:spPr>
        <p:txBody>
          <a:bodyPr/>
          <a:lstStyle/>
          <a:p>
            <a:r>
              <a:rPr lang="en-GB" dirty="0"/>
              <a:t>Using Databricks and this </a:t>
            </a:r>
            <a:r>
              <a:rPr lang="en-GB" dirty="0">
                <a:hlinkClick r:id="rId3"/>
              </a:rPr>
              <a:t>guide</a:t>
            </a:r>
            <a:r>
              <a:rPr lang="en-GB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Clone the SE teaching repo: </a:t>
            </a:r>
            <a:r>
              <a:rPr lang="en-GB" dirty="0">
                <a:hlinkClick r:id="rId4"/>
              </a:rPr>
              <a:t>https://github.com/nhsengland/SE-Teaching-Repo</a:t>
            </a:r>
            <a:endParaRPr lang="en-GB" dirty="0"/>
          </a:p>
          <a:p>
            <a:pPr lvl="1" indent="0">
              <a:buNone/>
            </a:pPr>
            <a:r>
              <a:rPr lang="en-GB" i="1" dirty="0"/>
              <a:t>(This is a private repo we created for our team as a playground for learning. If you are looking to do a similar task with your own team, we would recommend creating a similar repo using our </a:t>
            </a:r>
            <a:r>
              <a:rPr lang="en-GB" i="1" dirty="0">
                <a:hlinkClick r:id="rId5"/>
              </a:rPr>
              <a:t>template</a:t>
            </a:r>
            <a:r>
              <a:rPr lang="en-GB" i="1" dirty="0"/>
              <a:t> and adding some code files you don’t mind your team playing around with)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Create your own branch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Make a change to any of the existing files e.g. add a comment with your name, add a line of code, change an existing comment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Add in a new file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Commit and push through your changes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Switch to the main branch again</a:t>
            </a:r>
          </a:p>
          <a:p>
            <a:pPr marL="1143000" lvl="1" indent="-457200">
              <a:buFont typeface="+mj-lt"/>
              <a:buAutoNum type="alphaLcParenR"/>
            </a:pPr>
            <a:endParaRPr lang="en-GB" dirty="0"/>
          </a:p>
          <a:p>
            <a:pPr marL="1143000" lvl="1" indent="-457200">
              <a:buFont typeface="+mj-lt"/>
              <a:buAutoNum type="alphaLcParenR"/>
            </a:pPr>
            <a:endParaRPr lang="en-GB" dirty="0"/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BDDBB8-5CE2-D6A6-ED82-B3716B0D0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Task 1</a:t>
            </a:r>
          </a:p>
        </p:txBody>
      </p:sp>
    </p:spTree>
    <p:extLst>
      <p:ext uri="{BB962C8B-B14F-4D97-AF65-F5344CB8AC3E}">
        <p14:creationId xmlns:p14="http://schemas.microsoft.com/office/powerpoint/2010/main" val="181234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814">
        <p:fade/>
      </p:transition>
    </mc:Choice>
    <mc:Fallback xmlns="">
      <p:transition spd="med" advTm="10814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75AFB-47CF-A3B0-ACD8-7465C3BF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DD5E7E-ED94-BDC7-B810-29C1A8270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627833"/>
            <a:ext cx="11088000" cy="4600166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dirty="0"/>
              <a:t>Using this </a:t>
            </a:r>
            <a:r>
              <a:rPr lang="en-GB" dirty="0">
                <a:hlinkClick r:id="rId3"/>
              </a:rPr>
              <a:t>guide</a:t>
            </a:r>
            <a:r>
              <a:rPr lang="en-GB" dirty="0"/>
              <a:t> create your own repo for an existing piece of work you are likely to migrate to GitHub or for a new piece of work you will be working on. You can use GitHub desktop for this or the GitHub website.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Update the readme file for the piece of work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Choose if you work will use RStudio/Databricks/VS Code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Clone the repo using the relevant guide for </a:t>
            </a:r>
            <a:r>
              <a:rPr lang="en-GB" dirty="0">
                <a:hlinkClick r:id="rId4"/>
              </a:rPr>
              <a:t>RStudio</a:t>
            </a:r>
            <a:r>
              <a:rPr lang="en-GB" dirty="0"/>
              <a:t>/</a:t>
            </a:r>
            <a:r>
              <a:rPr lang="en-GB" dirty="0">
                <a:hlinkClick r:id="rId5"/>
              </a:rPr>
              <a:t>Databricks</a:t>
            </a:r>
            <a:r>
              <a:rPr lang="en-GB" dirty="0"/>
              <a:t>/</a:t>
            </a:r>
            <a:r>
              <a:rPr lang="en-GB" dirty="0">
                <a:hlinkClick r:id="rId6"/>
              </a:rPr>
              <a:t>VS Code</a:t>
            </a:r>
            <a:endParaRPr lang="en-GB" dirty="0"/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Create a branch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Add a file and add a comment describing what this file is for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Commit and push through your changes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Switch to the main branch again</a:t>
            </a:r>
          </a:p>
          <a:p>
            <a:pPr marL="1143000" lvl="1" indent="-457200">
              <a:buFont typeface="+mj-lt"/>
              <a:buAutoNum type="alphaLcParenR"/>
            </a:pPr>
            <a:endParaRPr lang="en-GB" dirty="0"/>
          </a:p>
          <a:p>
            <a:pPr marL="1143000" lvl="1" indent="-457200">
              <a:buFont typeface="+mj-lt"/>
              <a:buAutoNum type="alphaLcParenR"/>
            </a:pPr>
            <a:endParaRPr lang="en-GB" dirty="0"/>
          </a:p>
          <a:p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5B1A4A-ABCB-7FAA-A6AF-60F8ACB62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1908498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0814">
        <p:fade/>
      </p:transition>
    </mc:Choice>
    <mc:Fallback xmlns="">
      <p:transition spd="med" advTm="10814">
        <p:fade/>
      </p:transition>
    </mc:Fallback>
  </mc:AlternateContent>
</p:sld>
</file>

<file path=ppt/theme/theme1.xml><?xml version="1.0" encoding="utf-8"?>
<a:theme xmlns:a="http://schemas.openxmlformats.org/drawingml/2006/main" name="NHSD-Refresh-Theme-NOV1120B">
  <a:themeElements>
    <a:clrScheme name="Custom 2">
      <a:dk1>
        <a:srgbClr val="FFFFFF"/>
      </a:dk1>
      <a:lt1>
        <a:srgbClr val="231F20"/>
      </a:lt1>
      <a:dk2>
        <a:srgbClr val="005EB8"/>
      </a:dk2>
      <a:lt2>
        <a:srgbClr val="F4F6F8"/>
      </a:lt2>
      <a:accent1>
        <a:srgbClr val="003087"/>
      </a:accent1>
      <a:accent2>
        <a:srgbClr val="768692"/>
      </a:accent2>
      <a:accent3>
        <a:srgbClr val="C7CED3"/>
      </a:accent3>
      <a:accent4>
        <a:srgbClr val="99DDEB"/>
      </a:accent4>
      <a:accent5>
        <a:srgbClr val="80D2CC"/>
      </a:accent5>
      <a:accent6>
        <a:srgbClr val="425563"/>
      </a:accent6>
      <a:hlink>
        <a:srgbClr val="005EB8"/>
      </a:hlink>
      <a:folHlink>
        <a:srgbClr val="00308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HSD-PPT-Template-Refresh_NOV2020-B" id="{06B772CD-B1AE-2743-BE7F-0BA8B46714EA}" vid="{16F65E12-3586-BC44-90B1-43C17D3850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lcf76f155ced4ddcb4097134ff3c332f xmlns="5e67cd05-db79-4376-acf2-fd97aaab4b32">
      <Terms xmlns="http://schemas.microsoft.com/office/infopath/2007/PartnerControls"/>
    </lcf76f155ced4ddcb4097134ff3c332f>
    <SharedWithUsers xmlns="19ad61a0-b527-4b3d-990a-302b4323a1c4">
      <UserInfo>
        <DisplayName/>
        <AccountId xsi:nil="true"/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D7AEB253D84D40AB028D03AF2072F9" ma:contentTypeVersion="15" ma:contentTypeDescription="Create a new document." ma:contentTypeScope="" ma:versionID="533080eb3d138c6b968512a3d4390b59">
  <xsd:schema xmlns:xsd="http://www.w3.org/2001/XMLSchema" xmlns:xs="http://www.w3.org/2001/XMLSchema" xmlns:p="http://schemas.microsoft.com/office/2006/metadata/properties" xmlns:ns1="http://schemas.microsoft.com/sharepoint/v3" xmlns:ns2="5e67cd05-db79-4376-acf2-fd97aaab4b32" xmlns:ns3="19ad61a0-b527-4b3d-990a-302b4323a1c4" targetNamespace="http://schemas.microsoft.com/office/2006/metadata/properties" ma:root="true" ma:fieldsID="74a1b8877e881588c6cba42be517be8a" ns1:_="" ns2:_="" ns3:_="">
    <xsd:import namespace="http://schemas.microsoft.com/sharepoint/v3"/>
    <xsd:import namespace="5e67cd05-db79-4376-acf2-fd97aaab4b32"/>
    <xsd:import namespace="19ad61a0-b527-4b3d-990a-302b4323a1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67cd05-db79-4376-acf2-fd97aaab4b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c8d5fda-b97d-42c6-97e2-f76465e161c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ad61a0-b527-4b3d-990a-302b4323a1c4" elementFormDefault="qualified">
    <xsd:import namespace="http://schemas.microsoft.com/office/2006/documentManagement/types"/>
    <xsd:import namespace="http://schemas.microsoft.com/office/infopath/2007/PartnerControls"/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2B3C52-C4E5-4003-8240-632FDE102EAB}">
  <ds:schemaRefs>
    <ds:schemaRef ds:uri="http://schemas.microsoft.com/office/2006/metadata/properties"/>
    <ds:schemaRef ds:uri="5e67cd05-db79-4376-acf2-fd97aaab4b32"/>
    <ds:schemaRef ds:uri="http://schemas.openxmlformats.org/package/2006/metadata/core-properties"/>
    <ds:schemaRef ds:uri="http://purl.org/dc/terms/"/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19ad61a0-b527-4b3d-990a-302b4323a1c4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B7B6D4F5-ECA0-4A22-A4DD-3335756FD66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AA3E8A6-32EA-4552-877C-EA7874E0AB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5e67cd05-db79-4376-acf2-fd97aaab4b32"/>
    <ds:schemaRef ds:uri="19ad61a0-b527-4b3d-990a-302b4323a1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37c354b2-85b0-47f5-b222-07b48d774ee3}" enabled="0" method="" siteId="{37c354b2-85b0-47f5-b222-07b48d774ee3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1444</Words>
  <Application>Microsoft Office PowerPoint</Application>
  <PresentationFormat>Widescreen</PresentationFormat>
  <Paragraphs>149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Lexend</vt:lpstr>
      <vt:lpstr>Segoe UI</vt:lpstr>
      <vt:lpstr>NHSD-Refresh-Theme-NOV1120B</vt:lpstr>
      <vt:lpstr>Introduction to GitHub</vt:lpstr>
      <vt:lpstr>What is Git and GitHub?</vt:lpstr>
      <vt:lpstr>Why Use Git?</vt:lpstr>
      <vt:lpstr>Example of why GitHub is useful to us</vt:lpstr>
      <vt:lpstr>What is a repository?</vt:lpstr>
      <vt:lpstr>Cloning a repository</vt:lpstr>
      <vt:lpstr>Branching</vt:lpstr>
      <vt:lpstr>Fetching</vt:lpstr>
      <vt:lpstr>Staging, Committing and Pushing</vt:lpstr>
      <vt:lpstr>Pull Requests</vt:lpstr>
      <vt:lpstr>.gitignore file</vt:lpstr>
      <vt:lpstr>Platforms that can use GitHub</vt:lpstr>
      <vt:lpstr>Task 1</vt:lpstr>
      <vt:lpstr>Task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Gregory Wye</dc:creator>
  <cp:lastModifiedBy>BLINCKO, Sarah (NHS ENGLAND)</cp:lastModifiedBy>
  <cp:revision>4</cp:revision>
  <dcterms:created xsi:type="dcterms:W3CDTF">2020-11-30T10:49:03Z</dcterms:created>
  <dcterms:modified xsi:type="dcterms:W3CDTF">2025-11-11T15:22:14Z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0x01010073D7AEB253D84D40AB028D03AF2072F9</vt:lpwstr>
  </property>
  <property fmtid="{D5CDD505-2E9C-101B-9397-08002B2CF9AE}" pid="3" name="_dlc_DocIdItemGuid">
    <vt:lpwstr>56579ddb-1cdf-4035-9a3d-2da04fab6c26</vt:lpwstr>
  </property>
  <property fmtid="{D5CDD505-2E9C-101B-9397-08002B2CF9AE}" pid="4" name="MediaServiceImageTags">
    <vt:lpwstr/>
  </property>
  <property fmtid="{D5CDD505-2E9C-101B-9397-08002B2CF9AE}" pid="5" name="Order">
    <vt:r8>15100</vt:r8>
  </property>
  <property fmtid="{D5CDD505-2E9C-101B-9397-08002B2CF9AE}" pid="6" name="_ExtendedDescription">
    <vt:lpwstr/>
  </property>
  <property fmtid="{D5CDD505-2E9C-101B-9397-08002B2CF9AE}" pid="7" name="ComplianceAssetId">
    <vt:lpwstr/>
  </property>
  <property fmtid="{D5CDD505-2E9C-101B-9397-08002B2CF9AE}" pid="8" name="TriggerFlowInfo">
    <vt:lpwstr/>
  </property>
</Properties>
</file>