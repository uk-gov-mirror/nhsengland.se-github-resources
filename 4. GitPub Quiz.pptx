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4"/>
  </p:sldMasterIdLst>
  <p:notesMasterIdLst>
    <p:notesMasterId r:id="rId29"/>
  </p:notesMasterIdLst>
  <p:handoutMasterIdLst>
    <p:handoutMasterId r:id="rId30"/>
  </p:handoutMasterIdLst>
  <p:sldIdLst>
    <p:sldId id="2147378266" r:id="rId5"/>
    <p:sldId id="2147378265" r:id="rId6"/>
    <p:sldId id="2147378269" r:id="rId7"/>
    <p:sldId id="2147378271" r:id="rId8"/>
    <p:sldId id="2147378275" r:id="rId9"/>
    <p:sldId id="2147378273" r:id="rId10"/>
    <p:sldId id="2147378274" r:id="rId11"/>
    <p:sldId id="2147378276" r:id="rId12"/>
    <p:sldId id="2147378272" r:id="rId13"/>
    <p:sldId id="2147378277" r:id="rId14"/>
    <p:sldId id="2147378278" r:id="rId15"/>
    <p:sldId id="2147378288" r:id="rId16"/>
    <p:sldId id="2147378268" r:id="rId17"/>
    <p:sldId id="2147378267" r:id="rId18"/>
    <p:sldId id="2147378291" r:id="rId19"/>
    <p:sldId id="2147378279" r:id="rId20"/>
    <p:sldId id="2147378283" r:id="rId21"/>
    <p:sldId id="2147378281" r:id="rId22"/>
    <p:sldId id="2147378282" r:id="rId23"/>
    <p:sldId id="2147378289" r:id="rId24"/>
    <p:sldId id="2147378280" r:id="rId25"/>
    <p:sldId id="2147378285" r:id="rId26"/>
    <p:sldId id="2147378286" r:id="rId27"/>
    <p:sldId id="214737829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61470D-D743-4E1E-9CEE-39DD379902E9}">
          <p14:sldIdLst>
            <p14:sldId id="2147378266"/>
            <p14:sldId id="2147378265"/>
            <p14:sldId id="2147378269"/>
            <p14:sldId id="2147378271"/>
            <p14:sldId id="2147378275"/>
            <p14:sldId id="2147378273"/>
            <p14:sldId id="2147378274"/>
            <p14:sldId id="2147378276"/>
            <p14:sldId id="2147378272"/>
            <p14:sldId id="2147378277"/>
            <p14:sldId id="2147378278"/>
            <p14:sldId id="2147378288"/>
            <p14:sldId id="2147378268"/>
            <p14:sldId id="2147378267"/>
            <p14:sldId id="2147378291"/>
            <p14:sldId id="2147378279"/>
            <p14:sldId id="2147378283"/>
            <p14:sldId id="2147378281"/>
            <p14:sldId id="2147378282"/>
            <p14:sldId id="2147378289"/>
            <p14:sldId id="2147378280"/>
            <p14:sldId id="2147378285"/>
            <p14:sldId id="2147378286"/>
            <p14:sldId id="21473782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8D9512-6FD5-6297-306C-34B0D149D127}" name="BIRKS, Laura (NHS ENGLAND)" initials="BE" userId="S::laura.birks2@nhs.net::da3c8bd5-06ba-41d7-9043-89ea25be9882" providerId="AD"/>
  <p188:author id="{A7EADA63-EDB5-2190-2E40-4B74C5B6736F}" name="BLINCKO, Sarah (NHS ENGLAND)" initials="SB" userId="S::sarah.blincko1@nhs.net::dd26e808-a766-485b-886c-5159454dd072" providerId="AD"/>
  <p188:author id="{4C683273-CC4E-53BB-BC0C-D25BC74C4DE1}" name="DEAN, Grace (NHS ENGLAND - X24)" initials="GD" userId="S::grace.dean1@nhs.net::59ce8c75-cae9-4b19-aaa4-16b5d11a7e34" providerId="AD"/>
  <p188:author id="{195DDE8A-3633-796B-479E-E3AE1166D0AB}" name="Samantha Warnakula" initials="SW" userId="S::samantha.warnakula1@nhs.net::a2a1d2e4-a5ba-45a0-8006-25849eae4e68" providerId="AD"/>
  <p188:author id="{98F962CC-1BA2-C892-411B-A55F62DBB360}" name="AKINLOYE, Samantha (NHS ENGLAND - X24)" initials="Sa" userId="S::samantha.akinloye@nhs.net::a2a1d2e4-a5ba-45a0-8006-25849eae4e68" providerId="AD"/>
  <p188:author id="{661885E2-CD68-5E2C-7E58-8456EC034E83}" name="MASSAM, Robert (NHS ENGLAND)" initials="ME" userId="S::r.massam@nhs.net::2781aa12-8428-417f-8f39-180a205c34bf" providerId="AD"/>
  <p188:author id="{475F94FD-8EBD-4FDF-1D3F-F2645AA08D82}" name="Tom Hook" initials="TH" userId="S::tom.hook2@nhs.net::3a6c974b-d64a-4398-91e6-9e5e306404b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Wilkinson" initials="SW" lastIdx="1" clrIdx="0">
    <p:extLst>
      <p:ext uri="{19B8F6BF-5375-455C-9EA6-DF929625EA0E}">
        <p15:presenceInfo xmlns:p15="http://schemas.microsoft.com/office/powerpoint/2012/main" userId="1186059c3be801a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B8"/>
    <a:srgbClr val="00B9B8"/>
    <a:srgbClr val="FBFAF8"/>
    <a:srgbClr val="E78DC0"/>
    <a:srgbClr val="B587CF"/>
    <a:srgbClr val="EA99C7"/>
    <a:srgbClr val="C7A3DA"/>
    <a:srgbClr val="F6F8F8"/>
    <a:srgbClr val="003087"/>
    <a:srgbClr val="F270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INCKO, Sarah (NHS ENGLAND)" userId="dd26e808-a766-485b-886c-5159454dd072" providerId="ADAL" clId="{3F87E013-0E27-473E-BFA9-1A515C100D53}"/>
    <pc:docChg chg="undo custSel delSld modSld sldOrd delMainMaster modSection">
      <pc:chgData name="BLINCKO, Sarah (NHS ENGLAND)" userId="dd26e808-a766-485b-886c-5159454dd072" providerId="ADAL" clId="{3F87E013-0E27-473E-BFA9-1A515C100D53}" dt="2025-11-07T17:08:13.254" v="5" actId="20577"/>
      <pc:docMkLst>
        <pc:docMk/>
      </pc:docMkLst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2204799054" sldId="257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3830231407" sldId="1923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129221417" sldId="2147378242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878866541" sldId="2147378244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1164157659" sldId="2147378247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795130029" sldId="2147378248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2670586720" sldId="2147378252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2127843448" sldId="2147378254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3861454345" sldId="2147378259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1797716260" sldId="2147378260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12760872" sldId="2147378261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3693026490" sldId="2147378263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638987166" sldId="2147378264"/>
        </pc:sldMkLst>
      </pc:sldChg>
      <pc:sldChg chg="mod or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3531127055" sldId="2147378265"/>
        </pc:sldMkLst>
      </pc:sldChg>
      <pc:sldChg chg="modSp mod modShow">
        <pc:chgData name="BLINCKO, Sarah (NHS ENGLAND)" userId="dd26e808-a766-485b-886c-5159454dd072" providerId="ADAL" clId="{3F87E013-0E27-473E-BFA9-1A515C100D53}" dt="2025-11-07T17:08:13.254" v="5" actId="20577"/>
        <pc:sldMkLst>
          <pc:docMk/>
          <pc:sldMk cId="7164872" sldId="2147378266"/>
        </pc:sldMkLst>
        <pc:spChg chg="mod">
          <ac:chgData name="BLINCKO, Sarah (NHS ENGLAND)" userId="dd26e808-a766-485b-886c-5159454dd072" providerId="ADAL" clId="{3F87E013-0E27-473E-BFA9-1A515C100D53}" dt="2025-11-07T17:08:13.254" v="5" actId="20577"/>
          <ac:spMkLst>
            <pc:docMk/>
            <pc:sldMk cId="7164872" sldId="2147378266"/>
            <ac:spMk id="2" creationId="{D71EC2A6-B5CF-CD0E-7D06-208EA6B171C5}"/>
          </ac:spMkLst>
        </pc:spChg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2746294044" sldId="2147378267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353818449" sldId="2147378268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241827692" sldId="2147378269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533618124" sldId="2147378271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261674982" sldId="2147378272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590015606" sldId="2147378273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3148665204" sldId="2147378274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622468045" sldId="2147378275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3860232999" sldId="2147378276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922087210" sldId="2147378277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358090472" sldId="2147378278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606460170" sldId="2147378279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3996506532" sldId="2147378280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652226842" sldId="2147378281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3209353877" sldId="2147378282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3734416472" sldId="2147378283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540152130" sldId="2147378285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280642957" sldId="2147378286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968912117" sldId="2147378288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3963249114" sldId="2147378289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698006902" sldId="2147378290"/>
        </pc:sldMkLst>
      </pc:sldChg>
      <pc:sldChg chg="mod modShow">
        <pc:chgData name="BLINCKO, Sarah (NHS ENGLAND)" userId="dd26e808-a766-485b-886c-5159454dd072" providerId="ADAL" clId="{3F87E013-0E27-473E-BFA9-1A515C100D53}" dt="2025-11-07T17:08:08.464" v="4" actId="729"/>
        <pc:sldMkLst>
          <pc:docMk/>
          <pc:sldMk cId="1331516204" sldId="2147378291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1356224455" sldId="2147378294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1613378974" sldId="2147378296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1123837549" sldId="2147378297"/>
        </pc:sldMkLst>
      </pc:sldChg>
      <pc:sldChg chg="del">
        <pc:chgData name="BLINCKO, Sarah (NHS ENGLAND)" userId="dd26e808-a766-485b-886c-5159454dd072" providerId="ADAL" clId="{3F87E013-0E27-473E-BFA9-1A515C100D53}" dt="2025-11-07T17:07:52.975" v="0" actId="47"/>
        <pc:sldMkLst>
          <pc:docMk/>
          <pc:sldMk cId="1786516367" sldId="2147378298"/>
        </pc:sldMkLst>
      </pc:sldChg>
      <pc:sldMasterChg chg="delSldLayout">
        <pc:chgData name="BLINCKO, Sarah (NHS ENGLAND)" userId="dd26e808-a766-485b-886c-5159454dd072" providerId="ADAL" clId="{3F87E013-0E27-473E-BFA9-1A515C100D53}" dt="2025-11-07T17:07:52.975" v="0" actId="47"/>
        <pc:sldMasterMkLst>
          <pc:docMk/>
          <pc:sldMasterMk cId="945044896" sldId="2147483773"/>
        </pc:sldMasterMkLst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945044896" sldId="2147483773"/>
            <pc:sldLayoutMk cId="2798312337" sldId="2147483941"/>
          </pc:sldLayoutMkLst>
        </pc:sldLayoutChg>
      </pc:sldMasterChg>
      <pc:sldMasterChg chg="del delSldLayout">
        <pc:chgData name="BLINCKO, Sarah (NHS ENGLAND)" userId="dd26e808-a766-485b-886c-5159454dd072" providerId="ADAL" clId="{3F87E013-0E27-473E-BFA9-1A515C100D53}" dt="2025-11-07T17:07:52.975" v="0" actId="47"/>
        <pc:sldMasterMkLst>
          <pc:docMk/>
          <pc:sldMasterMk cId="3160625019" sldId="2147483942"/>
        </pc:sldMasterMkLst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1517525677" sldId="2147483943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3434598535" sldId="2147483944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2083340584" sldId="2147483945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82811856" sldId="2147483946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1475844232" sldId="2147483947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438126071" sldId="2147483948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62463496" sldId="2147483949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2948832663" sldId="2147483950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1836033974" sldId="2147483951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2044471335" sldId="2147483952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3583009068" sldId="2147483953"/>
          </pc:sldLayoutMkLst>
        </pc:sldLayoutChg>
        <pc:sldLayoutChg chg="del">
          <pc:chgData name="BLINCKO, Sarah (NHS ENGLAND)" userId="dd26e808-a766-485b-886c-5159454dd072" providerId="ADAL" clId="{3F87E013-0E27-473E-BFA9-1A515C100D53}" dt="2025-11-07T17:07:52.975" v="0" actId="47"/>
          <pc:sldLayoutMkLst>
            <pc:docMk/>
            <pc:sldMasterMk cId="3160625019" sldId="2147483942"/>
            <pc:sldLayoutMk cId="2361275897" sldId="214748395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EC95-64DF-BC69-FC71-A682B40486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11872-9401-5D00-CCCA-46DDE0B8B9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6D816-94D6-40FC-B977-F8A94C7E4824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56112-4593-5EC1-B7DA-2B07022F7A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C22BD-2C7D-A062-42A2-EA161F716A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EB188-56CE-4FCB-8130-436851797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1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ED4C3-48B6-4E4A-9B0F-8051E56348DC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EC7EF-95E1-3D44-A982-BC7A3E9C61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633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7C508-3194-DCFE-0313-258DBFE20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64953-5AFE-A8C6-E302-6CADBAF23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D3981-9EA7-9B37-377F-6F8D92F79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Grace to cover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D9F9F-4FC7-E111-7830-7A9007928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80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8839-C71C-6704-2A3E-CBADD19E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409F1-DCD9-F4BC-D922-5E3546D1B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41BD8-38C5-AB4A-96FB-B618E579D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8F829-C787-09EF-61B4-BBF05055C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92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C2BE-DAFE-ACE7-107C-B9E41BB7D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736EC-4DD7-CFB5-E6C9-8F16FC3C5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20A59-A671-43D6-2D0A-547F8AD76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83A1C-85B5-5F1B-BDB3-0FCEC339F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726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4E05-9243-9C3B-E824-097E16D0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2C46A-9CFB-FFA0-D70C-C8A9F7B43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DD958-6E4C-546A-EEAD-8D2C12D22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9902A-26D2-EAFD-C875-5488BBE1F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772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CAE00-67FB-A0D2-7D1B-5F50E610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29305-B97F-FAA5-974F-10B768FE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F793C-1CB7-8375-2D29-45A9BD8BC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11FCB-CA1A-1D41-3C8D-C6B8309D5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706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321D-1034-1775-C660-C74D702F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E9F84-D16C-4971-60A1-861E53E25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A9ADF-F1AC-E347-78F0-E37086E2E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CE6AD-7A85-0996-1319-1E76330B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468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962B-AC9A-8326-7BE7-F54832969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DCDDE-792B-7E71-203F-F4B377B85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4B0A4-BD57-39DD-E56D-63D511904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3D5C6-82F9-A37C-E4E1-CE14BDC77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147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1D357-C2A0-325B-973D-A260BD33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D8980-3A69-D106-9BB9-5C76B7251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DC032-DA09-DDDF-E459-BB20C1726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03C5F-9404-B14A-5E3E-034DFAA32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923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A7BA-B169-0513-DD36-2E0136F7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26D88-7E9D-0D96-1B50-981D12A76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3045E-F323-A4F4-BB73-82025FD43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D6E43-A9D5-D53F-EE76-AE81A7A3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429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A797-72BF-0103-1985-F9AA7F3E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77E6C-F649-0A89-361F-A45DAF84D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2A127-8DAA-16BD-231B-3FB8EEAB0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BC2DA-D90A-AA16-444A-95D048932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318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69E8C-B608-261B-433A-C7AE3100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72FF9-106F-075D-83CD-9562E410C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B40B-4DE4-0ED8-DFE9-4C5D2C385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F9B11-BDBA-42A6-1921-69EE6E1C2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507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B19D-AD1F-E1F3-1DDA-B161997E0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96E61-8B53-EC05-8F8E-B1A10AEC8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56C72-058A-3677-3D14-33DC843EA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00E2-331E-F9AA-B2A2-9D1E55CA6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54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1598-472B-C538-9865-FB78FB5D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1C222-C1DA-6E6B-7DA8-89FD64EAB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BB93F-8882-E5E0-C216-3515CD46F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Grace to cover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5DF7-79D6-AAF5-3ECA-101684581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565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DA04C-AD36-F7B8-A927-9483724D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A9B1E-2F7D-C919-7349-8AC7BBB9C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3D509-329C-5C18-0CF1-D7848CA8C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CF55C-9059-5619-3154-7F32F0964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027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35E35-3108-E02C-A7DC-45E6D24A0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A8EEC-EEA2-0F8B-E61B-141CE26C6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55BB5-637B-E963-56F6-87129710E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995F5-FCE5-9F41-E3D4-37338BACD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9828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FD256-DB59-7F00-61F3-84688011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2419F-2A55-91A6-152B-10C1467D5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F04A1-C8B8-A605-E441-6833DC5FE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435E-6F75-E9D4-F787-6D59FC116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797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41CC7-EFDF-AD70-A89F-190078366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BE4DA-FD6C-101B-7001-D8A9787B8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C9E9C-CA11-E3D0-9DCB-86067266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E1137-DB7F-643D-E1C4-2D4B12CBD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163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96BB6-803E-C3E3-124B-9B9B2ADC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F20C5-6157-628A-FC41-7EDCDB56B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75449-30C6-631D-9EDF-6767A01B9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 request lets you propose changes to a repository. Others can review, discuss, and merge your changes if approved</a:t>
            </a:r>
            <a:endParaRPr lang="en-GB" sz="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5B95F-81D3-3C0E-4A05-45B07A588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663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9990F-9002-1C91-CB5A-3BFC5D36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7E7B6-59CC-FD97-0F5E-C16EFFA09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E3188-7914-0FE1-5D05-CA47F0170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BBFE7-AE3D-0CDD-1FB9-98688804C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6027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B07C-98DB-42C4-BF1B-792DD169F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AC6D5-8A05-A582-41A1-44CB91530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3EA4F-890C-EF63-7A6E-594730DEC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EF783-8777-D736-8F97-C9CBCDFC3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857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AC0A-02D1-A446-E539-5BEE145B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4CAE6-C596-8523-6354-E95C4BED7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A9C48-E080-DEFC-13EF-2BB8AFE6D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00901-AFBB-7F0E-EA9B-A24F9C967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981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B33BC-DFEA-A70E-3AA4-AA4CA4E5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3F12B-36B6-ABAB-11A2-8FC942EF7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D8252-5168-3A4D-2909-A7B8F9123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5945C-27CD-7D61-1339-A6C639346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1260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A196-C140-5004-ADA5-9FBE1CCC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15116-4906-E896-5092-6A3218AA6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AEDF8-2C95-E42A-7EFF-372971470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slide with subhead and bullets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A72A2-4F65-E182-AF30-C4BD187B8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6282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2E72C-ED19-2E58-FA86-C2EC6B07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8B9D8-239E-F3C3-4A48-6F60C6939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A66F9-94B4-96CE-01CB-499E49192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Octocat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GitHub’s mascot and logo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 Request icon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Used to propose and review changes before merging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icon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Represents a Git branch (a separate line of development)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Book/Documentation icon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Typically links to project documentation or a README</a:t>
            </a:r>
          </a:p>
          <a:p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Comment/Discussion icon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Used for issues, discussions, or code review comments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44337-1051-5168-BED3-8AD4D8850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90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ing, content, basic text one col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5138" y="414734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5138" y="1415778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45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8E66E-4300-C34D-B490-E2E6A73E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7980B-A75B-014B-A7A8-965882204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B5FF7D-C2EF-9E4C-A4CF-A835052E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7481C1-F4F0-BE4E-B991-152BB9620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C860F-BE8A-634D-9A96-33CE6D96B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913FF-786C-1944-BF18-E9AB064B3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22D839-E390-8340-B649-B4FC5A6CF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0EE3D-EEFC-874A-A65B-DDDE03FC3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67BF2-B8EF-D949-9F15-FC3B3099A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01170-3375-514F-99C2-E37C69039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7BC68-4FB2-EE4A-A33E-6A7AF0CF4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77C142-7A53-7A4A-A8FB-FBF33048E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DC5831-BE66-5045-87AF-18EBDF027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65DE4-B016-474E-A1C1-495957C7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B3AA15-3E6B-C347-B0BE-F416C5684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C0924D-A95B-1E43-84A3-825886C48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522785-C8F3-734E-AF20-487FED2CE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8AD1D6-A541-1941-8B56-2FF093676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44F750-124C-F246-BCDD-67595B93D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499656-96AE-C649-B3C1-81D5C6F60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150134-3C23-2A41-8EC0-2D0F308CD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542EAC-EEE9-2748-9DAC-6986FFF63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CDB1A-8B42-520A-323D-5D120AA4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9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ample-Icons-Layout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0BDAA4-2C6C-4E47-9616-5977DD23D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22911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91AF0D-B60D-2949-AB30-089AD6A4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4153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6B0456-3FC3-5D44-A9F1-56A57FD0B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5395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9F651-3737-5832-DC5A-9DB8A57B6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CA835D-248C-29AB-B7DE-5AD7C7D2A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21844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head, two columns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8789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72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hree columns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6000"/>
            <a:ext cx="11088000" cy="3456000"/>
          </a:xfrm>
          <a:prstGeom prst="rect">
            <a:avLst/>
          </a:prstGeom>
        </p:spPr>
        <p:txBody>
          <a:bodyPr lIns="0" tIns="0" rIns="0" bIns="0" numCol="3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9D545D-FD2F-4843-8588-07EBE7DDA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487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F89CB-5AF7-9C7B-6503-F287E127E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1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, subhead, bullets one column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828800"/>
            <a:ext cx="11088000" cy="43991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1073366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771D90-A686-C949-8872-F69893BCF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08527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D5CE1C-46DF-8846-A4A0-E19A9CC39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4955267-CD3E-4484-1B20-32E90EB4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2" name="IG">
            <a:extLst>
              <a:ext uri="{FF2B5EF4-FFF2-40B4-BE49-F238E27FC236}">
                <a16:creationId xmlns:a16="http://schemas.microsoft.com/office/drawing/2014/main" id="{DA3D1B79-C342-CD69-2296-9881D7008963}"/>
              </a:ext>
            </a:extLst>
          </p:cNvPr>
          <p:cNvSpPr txBox="1"/>
          <p:nvPr userDrawn="1"/>
        </p:nvSpPr>
        <p:spPr>
          <a:xfrm>
            <a:off x="432000" y="6428701"/>
            <a:ext cx="60585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105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All data is for management information purposes and is not for wider circulation or publication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A5A5A5">
                  <a:lumMod val="60000"/>
                  <a:lumOff val="40000"/>
                </a:srgbClr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slide with image 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93" y="1647568"/>
            <a:ext cx="4909569" cy="313006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ts val="42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Headline over a number of lines,</a:t>
            </a:r>
            <a:br>
              <a:rPr lang="en-GB"/>
            </a:br>
            <a:r>
              <a:rPr lang="en-GB"/>
              <a:t>keep to maximum of four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</p:spTree>
    <p:extLst>
      <p:ext uri="{BB962C8B-B14F-4D97-AF65-F5344CB8AC3E}">
        <p14:creationId xmlns:p14="http://schemas.microsoft.com/office/powerpoint/2010/main" val="304328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244FF8-F4E4-0514-77D0-8D8D69F93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ACF78F6-439A-384B-9C21-D11B5B50E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7772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77721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1884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1884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77721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77721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9447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1884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BEB741-20EA-C36A-7EF8-DE1CD1F1A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18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2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4378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4378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DD270E-858A-0745-A4F5-3FE5B4919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787DC-00EF-B13A-FE97-CE51273E8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783BA3-377B-7D8A-0B7B-91C314676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61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id, Titl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205929B3-ED58-E54F-B724-E24FB5F16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2000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9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9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F5640E1-FA0E-4F42-9387-CD7C434D2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555C5-A77A-2E44-BAF7-246298421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4B913F3-B51C-1F4F-BA00-F024BBF468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00000" y="1302462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A16CC21-F99A-6F47-A063-FA9FE06BAE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11DBD00-D83F-EF49-900D-B6C65CED2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357DCD-A469-B34A-A880-D744CA731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A4CC6C-41AA-2D50-A8B9-63559566F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8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ue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224" y="1314156"/>
            <a:ext cx="7503849" cy="3466727"/>
          </a:xfrm>
          <a:prstGeom prst="rect">
            <a:avLst/>
          </a:prstGeom>
        </p:spPr>
        <p:txBody>
          <a:bodyPr>
            <a:noAutofit/>
          </a:bodyPr>
          <a:lstStyle>
            <a:lvl1pPr marL="288000" indent="-288000" algn="l">
              <a:buNone/>
              <a:defRPr sz="42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left aligned text over multiple lines. Try to keep</a:t>
            </a:r>
            <a:br>
              <a:rPr lang="en-GB"/>
            </a:br>
            <a:r>
              <a:rPr lang="en-GB"/>
              <a:t>it to four lines if </a:t>
            </a:r>
            <a:r>
              <a:rPr lang="en-GB" err="1"/>
              <a:t>poss</a:t>
            </a:r>
            <a:r>
              <a:rPr lang="en-GB"/>
              <a:t> or five lines max.”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4780883"/>
            <a:ext cx="7503849" cy="896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3FE3F0-85CD-934D-A3A3-CF2B78D73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A86FEEE-9136-D68E-6360-B4FDD6D91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7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43F37B1-1F8A-2CA4-9D19-C0E420FB4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337CE4-9082-D695-8AD8-89148114E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3869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BA16B251-D1BB-394C-319F-40E8F04D7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42D69F-C459-8ECE-06A1-66E418FF3E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5208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2196E5-15CA-15E3-1E10-32B3D19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52C93B3-5A12-5AAD-2ACF-93939EE7F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58B23E-2241-0C04-DC3A-1FCFC1EF8A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“Add quote text here”</a:t>
            </a:r>
          </a:p>
        </p:txBody>
      </p:sp>
    </p:spTree>
    <p:extLst>
      <p:ext uri="{BB962C8B-B14F-4D97-AF65-F5344CB8AC3E}">
        <p14:creationId xmlns:p14="http://schemas.microsoft.com/office/powerpoint/2010/main" val="284182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B4F947-0C85-DAF2-683C-40847EF7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A7B0BA1-E61A-5019-0AA4-5328CA2AB0E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22BD2E-E9C2-A15B-06FB-553974CDE6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“Add quote text here”</a:t>
            </a:r>
          </a:p>
        </p:txBody>
      </p:sp>
    </p:spTree>
    <p:extLst>
      <p:ext uri="{BB962C8B-B14F-4D97-AF65-F5344CB8AC3E}">
        <p14:creationId xmlns:p14="http://schemas.microsoft.com/office/powerpoint/2010/main" val="12316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0C3909-1482-1013-E118-A2CE0A1D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3119AD-4AAB-8B34-F6C1-8D76F0D453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42" y="2242938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slide 1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932" y="3564000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9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F6C2AD-0E53-2A94-6EDF-C2BC1C35E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1914" y="-121920"/>
            <a:ext cx="12408747" cy="697992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D1B5349-CF21-E9D2-92A0-6C58C15A04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68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2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00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8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07C2D6-AB1B-B84B-BC13-7D79E8BCF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16318" y="-148043"/>
            <a:ext cx="12499929" cy="7031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06D8CC-65FF-0E59-2392-2C0EBC0605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3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91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6489-9A30-702B-3E26-D81845892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4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598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" name="Picture 4" descr="A blue rectangle with black background&#10;&#10;Description automatically generated">
            <a:extLst>
              <a:ext uri="{FF2B5EF4-FFF2-40B4-BE49-F238E27FC236}">
                <a16:creationId xmlns:a16="http://schemas.microsoft.com/office/drawing/2014/main" id="{D115B473-1B85-DD59-52BE-0E90A80C94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2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slide with image 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355A0D-4235-0CF1-A976-C33D8CCCBF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577A8-7F18-CBCC-319C-10DC2550A7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4716354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8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ACCESSI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D92FD5-08EA-6BC8-29BC-BCF5EEFE1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-2509143" y="-71523"/>
            <a:ext cx="10768951" cy="7616239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77C56A3-4FFE-73CF-6F7F-1F451E5B3F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15926" y="2605852"/>
            <a:ext cx="865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390E57B-AF19-8642-9E47-AF887F52887B}"/>
              </a:ext>
            </a:extLst>
          </p:cNvPr>
          <p:cNvSpPr txBox="1"/>
          <p:nvPr userDrawn="1"/>
        </p:nvSpPr>
        <p:spPr>
          <a:xfrm>
            <a:off x="5610770" y="2808746"/>
            <a:ext cx="4343734" cy="260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Thank You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@nhsengland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company/</a:t>
            </a:r>
            <a:r>
              <a:rPr kumimoji="0" lang="en-GB" sz="2400" b="1" i="0" u="none" strike="noStrike" kern="1200" cap="none" spc="2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nhsengland</a:t>
            </a:r>
            <a:endParaRPr kumimoji="0" lang="en-GB" sz="2400" b="1" i="0" u="none" strike="noStrike" kern="1200" cap="none" spc="2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england.nhs.uk</a:t>
            </a:r>
            <a:endParaRPr lang="en-GB" sz="2400" b="1">
              <a:solidFill>
                <a:schemeClr val="tx1"/>
              </a:solidFill>
            </a:endParaRPr>
          </a:p>
        </p:txBody>
      </p:sp>
      <p:pic>
        <p:nvPicPr>
          <p:cNvPr id="5" name="Picture 4" descr="Twitter symbol">
            <a:extLst>
              <a:ext uri="{FF2B5EF4-FFF2-40B4-BE49-F238E27FC236}">
                <a16:creationId xmlns:a16="http://schemas.microsoft.com/office/drawing/2014/main" id="{6C1B65D7-2EE6-F44F-85AA-7C93787926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72040" y="3665234"/>
            <a:ext cx="390144" cy="390144"/>
          </a:xfrm>
          <a:prstGeom prst="rect">
            <a:avLst/>
          </a:prstGeom>
        </p:spPr>
      </p:pic>
      <p:pic>
        <p:nvPicPr>
          <p:cNvPr id="8" name="Picture 7" descr="LinkedIn symbol">
            <a:extLst>
              <a:ext uri="{FF2B5EF4-FFF2-40B4-BE49-F238E27FC236}">
                <a16:creationId xmlns:a16="http://schemas.microsoft.com/office/drawing/2014/main" id="{F2843EE8-F6F8-9D40-92C1-94FB4DCF14B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885396" y="4266369"/>
            <a:ext cx="390144" cy="390144"/>
          </a:xfrm>
          <a:prstGeom prst="rect">
            <a:avLst/>
          </a:prstGeom>
        </p:spPr>
      </p:pic>
      <p:pic>
        <p:nvPicPr>
          <p:cNvPr id="72" name="Picture 96" descr="World-wide web symbol">
            <a:extLst>
              <a:ext uri="{FF2B5EF4-FFF2-40B4-BE49-F238E27FC236}">
                <a16:creationId xmlns:a16="http://schemas.microsoft.com/office/drawing/2014/main" id="{664BA24D-FA8C-EE4D-A2DC-491BF11D6FA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767074" y="4806522"/>
            <a:ext cx="600075" cy="6000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52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310075"/>
            <a:ext cx="11404154" cy="4267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E920E-FCD4-834F-9787-A19C03BDF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055424E-84DC-71BA-CBB2-BE0007D93C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B2922A9-9C8F-43B1-7D0A-0C7761EE4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767200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</p:spTree>
    <p:extLst>
      <p:ext uri="{BB962C8B-B14F-4D97-AF65-F5344CB8AC3E}">
        <p14:creationId xmlns:p14="http://schemas.microsoft.com/office/powerpoint/2010/main" val="11083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E947E-1F3C-4CE2-B205-42ACABCD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187EB-CD8C-4429-80A8-057E397FF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8BCC8-525B-41FD-8646-596B1960C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74AD-8404-48D7-8DB8-BCC9125C3396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564A6-47BB-43DB-A152-9E1555760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BD63-EE18-4132-8F91-68A0A2C0D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044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33" r:id="rId2"/>
    <p:sldLayoutId id="2147483834" r:id="rId3"/>
    <p:sldLayoutId id="2147483826" r:id="rId4"/>
    <p:sldLayoutId id="2147483827" r:id="rId5"/>
    <p:sldLayoutId id="2147483789" r:id="rId6"/>
    <p:sldLayoutId id="2147483818" r:id="rId7"/>
    <p:sldLayoutId id="2147483813" r:id="rId8"/>
    <p:sldLayoutId id="2147483814" r:id="rId9"/>
    <p:sldLayoutId id="2147483815" r:id="rId10"/>
    <p:sldLayoutId id="2147483719" r:id="rId11"/>
    <p:sldLayoutId id="2147483938" r:id="rId12"/>
    <p:sldLayoutId id="2147483939" r:id="rId13"/>
    <p:sldLayoutId id="2147483933" r:id="rId14"/>
    <p:sldLayoutId id="2147483824" r:id="rId15"/>
    <p:sldLayoutId id="2147483926" r:id="rId16"/>
    <p:sldLayoutId id="2147483927" r:id="rId17"/>
    <p:sldLayoutId id="2147483929" r:id="rId18"/>
    <p:sldLayoutId id="2147483928" r:id="rId19"/>
    <p:sldLayoutId id="2147483930" r:id="rId20"/>
    <p:sldLayoutId id="2147483924" r:id="rId21"/>
    <p:sldLayoutId id="2147483940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C087F-70F1-5012-2357-60B54031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C2A6-B5CF-CD0E-7D06-208EA6B17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GitPub</a:t>
            </a:r>
            <a:r>
              <a:rPr lang="en-GB" dirty="0"/>
              <a:t> Quiz</a:t>
            </a:r>
          </a:p>
        </p:txBody>
      </p:sp>
    </p:spTree>
    <p:extLst>
      <p:ext uri="{BB962C8B-B14F-4D97-AF65-F5344CB8AC3E}">
        <p14:creationId xmlns:p14="http://schemas.microsoft.com/office/powerpoint/2010/main" val="7164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DB23-7D78-082A-AB75-C4F027A11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888D95B-6D18-F87F-48A9-F2C8EF020479}"/>
              </a:ext>
            </a:extLst>
          </p:cNvPr>
          <p:cNvSpPr txBox="1"/>
          <p:nvPr/>
        </p:nvSpPr>
        <p:spPr>
          <a:xfrm>
            <a:off x="742897" y="2059394"/>
            <a:ext cx="7788455" cy="255454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Hosting websites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Sharing videos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Version control and collaboration on code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Designing graphics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Looking at pictures of cats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9D0DCE51-533B-9E5F-0C78-C929D44E8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1. What is GitHub primarily used for? </a:t>
            </a:r>
          </a:p>
        </p:txBody>
      </p:sp>
    </p:spTree>
    <p:extLst>
      <p:ext uri="{BB962C8B-B14F-4D97-AF65-F5344CB8AC3E}">
        <p14:creationId xmlns:p14="http://schemas.microsoft.com/office/powerpoint/2010/main" val="353112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63733-35C6-6412-8AA6-24588275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AD40DAE-36B8-DE3D-0DBC-C215E914C890}"/>
              </a:ext>
            </a:extLst>
          </p:cNvPr>
          <p:cNvSpPr txBox="1"/>
          <p:nvPr/>
        </p:nvSpPr>
        <p:spPr>
          <a:xfrm>
            <a:off x="742897" y="2059394"/>
            <a:ext cx="10129674" cy="204671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A backup of your computer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A folder that contains your project files and version history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A list of contributors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A type of GitHub user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709FB7F5-60C2-610D-7C67-FFD67B05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bg2"/>
                </a:solidFill>
              </a:rPr>
              <a:t>2. What is a repository (repo) in GitHub?</a:t>
            </a:r>
          </a:p>
        </p:txBody>
      </p:sp>
    </p:spTree>
    <p:extLst>
      <p:ext uri="{BB962C8B-B14F-4D97-AF65-F5344CB8AC3E}">
        <p14:creationId xmlns:p14="http://schemas.microsoft.com/office/powerpoint/2010/main" val="24182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B28D-BEA9-F6CE-4571-8CD2F20B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2A59E631-DEE4-ACCA-C15C-C487ED3413AE}"/>
              </a:ext>
            </a:extLst>
          </p:cNvPr>
          <p:cNvSpPr txBox="1"/>
          <p:nvPr/>
        </p:nvSpPr>
        <p:spPr>
          <a:xfrm>
            <a:off x="742897" y="2059394"/>
            <a:ext cx="9425231" cy="286232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Deletes a repository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Creates a new branch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Copies a repository to your local machine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Uploads files to GitHub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Takes someone you’re not fond of and clones them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FEA978A-DFD2-FDCA-2ED7-3003E0A3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3. Finish this sentence: “A git clone…” </a:t>
            </a:r>
          </a:p>
        </p:txBody>
      </p:sp>
    </p:spTree>
    <p:extLst>
      <p:ext uri="{BB962C8B-B14F-4D97-AF65-F5344CB8AC3E}">
        <p14:creationId xmlns:p14="http://schemas.microsoft.com/office/powerpoint/2010/main" val="53361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E47-5E6A-13B9-0A43-502939A0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1A5DB870-B9EB-9AD6-BACD-0F60A651295B}"/>
              </a:ext>
            </a:extLst>
          </p:cNvPr>
          <p:cNvSpPr txBox="1"/>
          <p:nvPr/>
        </p:nvSpPr>
        <p:spPr>
          <a:xfrm>
            <a:off x="742897" y="2059394"/>
            <a:ext cx="9425231" cy="227754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backup of your code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separate version of your code for experimentation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type of file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GitHub user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D9174EA-77E0-5879-09CC-22515A46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bg2"/>
                </a:solidFill>
              </a:rPr>
              <a:t>4. What is a branch in GitHub?</a:t>
            </a:r>
          </a:p>
        </p:txBody>
      </p:sp>
    </p:spTree>
    <p:extLst>
      <p:ext uri="{BB962C8B-B14F-4D97-AF65-F5344CB8AC3E}">
        <p14:creationId xmlns:p14="http://schemas.microsoft.com/office/powerpoint/2010/main" val="1622468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6A3A-25BD-97E0-87A6-3DD870E9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25FA0B93-2790-E1C6-3E5C-5771E326F8A7}"/>
              </a:ext>
            </a:extLst>
          </p:cNvPr>
          <p:cNvSpPr txBox="1"/>
          <p:nvPr/>
        </p:nvSpPr>
        <p:spPr>
          <a:xfrm>
            <a:off x="742897" y="2059394"/>
            <a:ext cx="9425231" cy="227754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request to delete a repository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way to suggest changes to a project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command to update Git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GitHub notification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12D51242-8588-30F2-FC58-910AF292C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5. What is a pull request? </a:t>
            </a:r>
          </a:p>
        </p:txBody>
      </p:sp>
    </p:spTree>
    <p:extLst>
      <p:ext uri="{BB962C8B-B14F-4D97-AF65-F5344CB8AC3E}">
        <p14:creationId xmlns:p14="http://schemas.microsoft.com/office/powerpoint/2010/main" val="159001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6582-DF77-2464-45B4-B9743810C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CBB624C-461D-B14D-E511-94DAB0016E31}"/>
              </a:ext>
            </a:extLst>
          </p:cNvPr>
          <p:cNvSpPr txBox="1"/>
          <p:nvPr/>
        </p:nvSpPr>
        <p:spPr>
          <a:xfrm>
            <a:off x="742897" y="2059394"/>
            <a:ext cx="9425231" cy="169277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True</a:t>
            </a:r>
          </a:p>
          <a:p>
            <a:r>
              <a:rPr lang="en-GB"/>
              <a:t>False</a:t>
            </a:r>
          </a:p>
          <a:p>
            <a:r>
              <a:rPr lang="en-GB"/>
              <a:t>What’s the command line?!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83981DE-0447-C4C7-8308-59258639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979323"/>
            <a:ext cx="11127941" cy="865186"/>
          </a:xfrm>
        </p:spPr>
        <p:txBody>
          <a:bodyPr>
            <a:normAutofit fontScale="90000"/>
          </a:bodyPr>
          <a:lstStyle/>
          <a:p>
            <a:r>
              <a:rPr lang="en-GB" sz="4000">
                <a:solidFill>
                  <a:srgbClr val="0070C0"/>
                </a:solidFill>
              </a:rPr>
              <a:t>6. True or False: You must use the command line to use GitHub</a:t>
            </a:r>
          </a:p>
        </p:txBody>
      </p:sp>
    </p:spTree>
    <p:extLst>
      <p:ext uri="{BB962C8B-B14F-4D97-AF65-F5344CB8AC3E}">
        <p14:creationId xmlns:p14="http://schemas.microsoft.com/office/powerpoint/2010/main" val="314866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86DD0-882E-F54E-60CB-16C5AF92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34D92E4-8AF0-72E3-86F3-417DFD1B8966}"/>
              </a:ext>
            </a:extLst>
          </p:cNvPr>
          <p:cNvSpPr txBox="1"/>
          <p:nvPr/>
        </p:nvSpPr>
        <p:spPr>
          <a:xfrm>
            <a:off x="742896" y="2059394"/>
            <a:ext cx="9818777" cy="270843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Downloads changes from a remote repository and merges them into your local branch</a:t>
            </a:r>
          </a:p>
          <a:p>
            <a:r>
              <a:rPr lang="en-GB"/>
              <a:t>Saves changes locally</a:t>
            </a:r>
          </a:p>
          <a:p>
            <a:r>
              <a:rPr lang="en-GB"/>
              <a:t>Uploads local commits to GitHub</a:t>
            </a:r>
          </a:p>
          <a:p>
            <a:r>
              <a:rPr lang="en-GB"/>
              <a:t>Deletes your local repository and starts fresh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0EEB209-77BB-F615-370C-511DA394F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7. What does git pull do?</a:t>
            </a:r>
          </a:p>
        </p:txBody>
      </p:sp>
    </p:spTree>
    <p:extLst>
      <p:ext uri="{BB962C8B-B14F-4D97-AF65-F5344CB8AC3E}">
        <p14:creationId xmlns:p14="http://schemas.microsoft.com/office/powerpoint/2010/main" val="38602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0BD1-7BD8-F639-19A9-E431EC80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8DFD6321-AF60-6139-6420-191EBDFFD51F}"/>
              </a:ext>
            </a:extLst>
          </p:cNvPr>
          <p:cNvSpPr txBox="1"/>
          <p:nvPr/>
        </p:nvSpPr>
        <p:spPr>
          <a:xfrm>
            <a:off x="742897" y="2059394"/>
            <a:ext cx="9425231" cy="181588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Made a new repository</a:t>
            </a:r>
          </a:p>
          <a:p>
            <a:r>
              <a:rPr lang="en-GB"/>
              <a:t>Created a new branch</a:t>
            </a:r>
          </a:p>
          <a:p>
            <a:r>
              <a:rPr lang="en-GB"/>
              <a:t>Saved a version of my project</a:t>
            </a:r>
          </a:p>
          <a:p>
            <a:r>
              <a:rPr lang="en-GB"/>
              <a:t>Put a ring on it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CCF86DF-E5F4-2329-E00F-BA6411655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 fontScale="90000"/>
          </a:bodyPr>
          <a:lstStyle/>
          <a:p>
            <a:r>
              <a:rPr lang="en-GB" sz="4000">
                <a:solidFill>
                  <a:srgbClr val="0070C0"/>
                </a:solidFill>
              </a:rPr>
              <a:t>8. I make a commit in Git. What have I done?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C19686-8B31-BE22-C82F-A461BF3C9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49" y="3082548"/>
            <a:ext cx="3763178" cy="25087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9755D7-20B8-54FC-22D0-2E306FBD9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488" y="4336940"/>
            <a:ext cx="28479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7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5159-2A9C-8883-2AA4-EEBDB2C4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EC2E2F1-8BE4-788E-5840-E55D6B06E3E1}"/>
              </a:ext>
            </a:extLst>
          </p:cNvPr>
          <p:cNvSpPr txBox="1"/>
          <p:nvPr/>
        </p:nvSpPr>
        <p:spPr>
          <a:xfrm>
            <a:off x="742897" y="2059394"/>
            <a:ext cx="9425231" cy="166199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Downloads changes from GitHub</a:t>
            </a:r>
          </a:p>
          <a:p>
            <a:r>
              <a:rPr lang="en-GB"/>
              <a:t>Uploads local commits to GitHub</a:t>
            </a:r>
          </a:p>
          <a:p>
            <a:r>
              <a:rPr lang="en-GB"/>
              <a:t>Creates a new repository</a:t>
            </a:r>
          </a:p>
          <a:p>
            <a:r>
              <a:rPr lang="en-GB"/>
              <a:t>Merges branches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9A11917-1003-F845-1A42-1F2A383D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9. What does git push do?</a:t>
            </a:r>
          </a:p>
        </p:txBody>
      </p:sp>
    </p:spTree>
    <p:extLst>
      <p:ext uri="{BB962C8B-B14F-4D97-AF65-F5344CB8AC3E}">
        <p14:creationId xmlns:p14="http://schemas.microsoft.com/office/powerpoint/2010/main" val="192208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2D78B-8348-A906-CE5A-E3CB0D66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8E1F5C60-7108-A83A-E5FF-AFF4EDC9AA92}"/>
              </a:ext>
            </a:extLst>
          </p:cNvPr>
          <p:cNvSpPr txBox="1"/>
          <p:nvPr/>
        </p:nvSpPr>
        <p:spPr>
          <a:xfrm>
            <a:off x="813097" y="2132546"/>
            <a:ext cx="9425231" cy="227754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Issues</a:t>
            </a:r>
          </a:p>
          <a:p>
            <a:r>
              <a:rPr lang="en-GB"/>
              <a:t>Forks</a:t>
            </a:r>
          </a:p>
          <a:p>
            <a:r>
              <a:rPr lang="en-GB"/>
              <a:t>Commits</a:t>
            </a:r>
          </a:p>
          <a:p>
            <a:r>
              <a:rPr lang="en-GB"/>
              <a:t>Filters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4635623-20BB-30E8-9B9B-B334978B9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858434" cy="865186"/>
          </a:xfrm>
        </p:spPr>
        <p:txBody>
          <a:bodyPr>
            <a:normAutofit fontScale="90000"/>
          </a:bodyPr>
          <a:lstStyle/>
          <a:p>
            <a:r>
              <a:rPr lang="en-GB" sz="4000">
                <a:solidFill>
                  <a:srgbClr val="0070C0"/>
                </a:solidFill>
              </a:rPr>
              <a:t>10. Which of the following is not a valid GitHub feature?</a:t>
            </a:r>
          </a:p>
        </p:txBody>
      </p:sp>
    </p:spTree>
    <p:extLst>
      <p:ext uri="{BB962C8B-B14F-4D97-AF65-F5344CB8AC3E}">
        <p14:creationId xmlns:p14="http://schemas.microsoft.com/office/powerpoint/2010/main" val="135809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4DEB7-FA40-FF48-C0A2-82D156DA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E2B2AEE-9C1E-62BB-42EA-F0FC840D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63" y="1087870"/>
            <a:ext cx="5013491" cy="5013491"/>
          </a:xfrm>
          <a:prstGeom prst="rect">
            <a:avLst/>
          </a:prstGeom>
          <a:solidFill>
            <a:srgbClr val="FBFAF8"/>
          </a:solidFill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62140C8F-E7AD-D72E-50B0-161146A2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47" y="141925"/>
            <a:ext cx="3851242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70C0"/>
                </a:solidFill>
              </a:rPr>
              <a:t>Picture round…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A83917-9C34-20B0-ECCB-A1940CC3A326}"/>
              </a:ext>
            </a:extLst>
          </p:cNvPr>
          <p:cNvGrpSpPr/>
          <p:nvPr/>
        </p:nvGrpSpPr>
        <p:grpSpPr>
          <a:xfrm>
            <a:off x="3756886" y="1823540"/>
            <a:ext cx="3940288" cy="4277821"/>
            <a:chOff x="3782159" y="1832789"/>
            <a:chExt cx="3940288" cy="42778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5312F49-AB51-D3C8-0DDE-3C2E986AAB68}"/>
                </a:ext>
              </a:extLst>
            </p:cNvPr>
            <p:cNvSpPr txBox="1"/>
            <p:nvPr/>
          </p:nvSpPr>
          <p:spPr>
            <a:xfrm>
              <a:off x="5832909" y="1876810"/>
              <a:ext cx="32862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b="1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7D2E27-E83B-F928-9177-2588EF2B743E}"/>
                </a:ext>
              </a:extLst>
            </p:cNvPr>
            <p:cNvSpPr txBox="1"/>
            <p:nvPr/>
          </p:nvSpPr>
          <p:spPr>
            <a:xfrm>
              <a:off x="3782159" y="3379173"/>
              <a:ext cx="328629" cy="430887"/>
            </a:xfrm>
            <a:prstGeom prst="rect">
              <a:avLst/>
            </a:prstGeom>
            <a:solidFill>
              <a:srgbClr val="FBFAF8"/>
            </a:solidFill>
          </p:spPr>
          <p:txBody>
            <a:bodyPr wrap="square" rtlCol="0">
              <a:spAutoFit/>
            </a:bodyPr>
            <a:lstStyle/>
            <a:p>
              <a:r>
                <a:rPr lang="en-GB" sz="2200" b="1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9F85EC-C411-8079-F9A9-0FFA3625BEF8}"/>
                </a:ext>
              </a:extLst>
            </p:cNvPr>
            <p:cNvSpPr txBox="1"/>
            <p:nvPr/>
          </p:nvSpPr>
          <p:spPr>
            <a:xfrm>
              <a:off x="5923145" y="3394666"/>
              <a:ext cx="328629" cy="430887"/>
            </a:xfrm>
            <a:prstGeom prst="rect">
              <a:avLst/>
            </a:prstGeom>
            <a:solidFill>
              <a:srgbClr val="FBFAF8"/>
            </a:solidFill>
            <a:ln>
              <a:solidFill>
                <a:srgbClr val="FBFAF8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200" b="1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511F00-B98A-0FDB-7692-97354AD58915}"/>
                </a:ext>
              </a:extLst>
            </p:cNvPr>
            <p:cNvSpPr txBox="1"/>
            <p:nvPr/>
          </p:nvSpPr>
          <p:spPr>
            <a:xfrm>
              <a:off x="3782159" y="4659507"/>
              <a:ext cx="328629" cy="430887"/>
            </a:xfrm>
            <a:prstGeom prst="rect">
              <a:avLst/>
            </a:prstGeom>
            <a:solidFill>
              <a:srgbClr val="FBFAF8"/>
            </a:solidFill>
            <a:ln>
              <a:solidFill>
                <a:srgbClr val="FBFAF8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200" b="1"/>
                <a:t>5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45A9D50-6021-6FEC-9B2F-5BFFACB5D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774" y="3378815"/>
              <a:ext cx="1250606" cy="1250606"/>
            </a:xfrm>
            <a:prstGeom prst="rect">
              <a:avLst/>
            </a:prstGeom>
            <a:solidFill>
              <a:srgbClr val="FBFAF8"/>
            </a:solidFill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A8E30C4-D80F-3BEC-D2D3-FD4BFDB38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3434" y="1832789"/>
              <a:ext cx="1512168" cy="1512168"/>
            </a:xfrm>
            <a:prstGeom prst="rect">
              <a:avLst/>
            </a:prstGeom>
            <a:solidFill>
              <a:srgbClr val="FBFAF8"/>
            </a:solidFill>
          </p:spPr>
        </p:pic>
        <p:pic>
          <p:nvPicPr>
            <p:cNvPr id="24" name="Picture 26">
              <a:extLst>
                <a:ext uri="{FF2B5EF4-FFF2-40B4-BE49-F238E27FC236}">
                  <a16:creationId xmlns:a16="http://schemas.microsoft.com/office/drawing/2014/main" id="{88A2A330-4AFC-A97A-79E7-255DCEA6A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726" y="3478950"/>
              <a:ext cx="1221852" cy="1221852"/>
            </a:xfrm>
            <a:prstGeom prst="rect">
              <a:avLst/>
            </a:prstGeom>
            <a:solidFill>
              <a:srgbClr val="FBFAF8"/>
            </a:solidFill>
            <a:ln>
              <a:solidFill>
                <a:srgbClr val="FBFAF8"/>
              </a:solidFill>
            </a:ln>
          </p:spPr>
        </p:pic>
        <p:pic>
          <p:nvPicPr>
            <p:cNvPr id="23" name="Picture 2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F841FAC-8772-3CB3-C866-342B8E027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97621" y="4685784"/>
              <a:ext cx="1424826" cy="1424826"/>
            </a:xfrm>
            <a:prstGeom prst="rect">
              <a:avLst/>
            </a:prstGeom>
            <a:solidFill>
              <a:srgbClr val="FBFAF8"/>
            </a:solidFill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57C7E41-0B37-862F-07DA-885F31D97159}"/>
              </a:ext>
            </a:extLst>
          </p:cNvPr>
          <p:cNvSpPr txBox="1"/>
          <p:nvPr/>
        </p:nvSpPr>
        <p:spPr>
          <a:xfrm>
            <a:off x="5958722" y="4695707"/>
            <a:ext cx="328629" cy="430887"/>
          </a:xfrm>
          <a:prstGeom prst="rect">
            <a:avLst/>
          </a:prstGeom>
          <a:solidFill>
            <a:srgbClr val="FBFAF8"/>
          </a:solidFill>
          <a:ln>
            <a:solidFill>
              <a:srgbClr val="FBFAF8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b="1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6891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ACFB-8234-33DD-AEC1-03DB4747A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3145-B434-C083-BFAB-D5583EE93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35381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9181-028B-1B8F-D0DA-E185D841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39B6361-9849-FB41-C3B7-091A09EA10F8}"/>
              </a:ext>
            </a:extLst>
          </p:cNvPr>
          <p:cNvSpPr txBox="1"/>
          <p:nvPr/>
        </p:nvSpPr>
        <p:spPr>
          <a:xfrm>
            <a:off x="742897" y="2059394"/>
            <a:ext cx="9269783" cy="255454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Hosting websites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Sharing videos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 b="1">
                <a:solidFill>
                  <a:srgbClr val="00B9B8"/>
                </a:solidFill>
              </a:rPr>
              <a:t>Version control and collaboration on code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Designing graphics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Looking at pictures of cats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5CCA0A0-E3AB-DD68-35F7-E73D2192B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1. What is GitHub primarily used for? </a:t>
            </a:r>
          </a:p>
        </p:txBody>
      </p:sp>
    </p:spTree>
    <p:extLst>
      <p:ext uri="{BB962C8B-B14F-4D97-AF65-F5344CB8AC3E}">
        <p14:creationId xmlns:p14="http://schemas.microsoft.com/office/powerpoint/2010/main" val="274629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A790-C2CC-58DE-6A02-AA945C7A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314C0F3-7F7B-7B02-9DF8-EDFD4CD43AEA}"/>
              </a:ext>
            </a:extLst>
          </p:cNvPr>
          <p:cNvSpPr txBox="1"/>
          <p:nvPr/>
        </p:nvSpPr>
        <p:spPr>
          <a:xfrm>
            <a:off x="742897" y="2059394"/>
            <a:ext cx="10129674" cy="247760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A backup of your computer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 b="1">
                <a:solidFill>
                  <a:srgbClr val="005EB8"/>
                </a:solidFill>
              </a:rPr>
              <a:t>A folder that contains your project files and version history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A list of contributors</a:t>
            </a:r>
          </a:p>
          <a:p>
            <a:pPr marL="514350" indent="-514350">
              <a:spcAft>
                <a:spcPts val="600"/>
              </a:spcAft>
              <a:buAutoNum type="alphaLcPeriod"/>
            </a:pPr>
            <a:r>
              <a:rPr lang="en-GB" sz="2800"/>
              <a:t>A type of GitHub user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2F34C3A0-4FEC-6081-7465-A58777F7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bg2"/>
                </a:solidFill>
              </a:rPr>
              <a:t>2. What is a repository (repo) in GitHub?</a:t>
            </a:r>
          </a:p>
        </p:txBody>
      </p:sp>
    </p:spTree>
    <p:extLst>
      <p:ext uri="{BB962C8B-B14F-4D97-AF65-F5344CB8AC3E}">
        <p14:creationId xmlns:p14="http://schemas.microsoft.com/office/powerpoint/2010/main" val="133151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E08D-8CDB-2DC9-B0BE-FB4240FD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B2528DF-4C36-1B46-B860-DE861841026A}"/>
              </a:ext>
            </a:extLst>
          </p:cNvPr>
          <p:cNvSpPr txBox="1"/>
          <p:nvPr/>
        </p:nvSpPr>
        <p:spPr>
          <a:xfrm>
            <a:off x="742897" y="2059394"/>
            <a:ext cx="9425231" cy="286232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Deletes a repository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Creates a new branch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 b="1">
                <a:solidFill>
                  <a:srgbClr val="00B9B8"/>
                </a:solidFill>
              </a:rPr>
              <a:t>Copies a repository to your local machine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Uploads files to GitHub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Takes someone you’re not fond of and clones them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94DE8AB-E920-D4FE-E87D-87502BB3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3. Finish this sentence: “A git clone…” </a:t>
            </a:r>
          </a:p>
        </p:txBody>
      </p:sp>
    </p:spTree>
    <p:extLst>
      <p:ext uri="{BB962C8B-B14F-4D97-AF65-F5344CB8AC3E}">
        <p14:creationId xmlns:p14="http://schemas.microsoft.com/office/powerpoint/2010/main" val="160646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242D-6022-189B-3C15-0C29A178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8D375F19-1A51-7C4C-EEF9-78A62EB5099F}"/>
              </a:ext>
            </a:extLst>
          </p:cNvPr>
          <p:cNvSpPr txBox="1"/>
          <p:nvPr/>
        </p:nvSpPr>
        <p:spPr>
          <a:xfrm>
            <a:off x="742897" y="2059394"/>
            <a:ext cx="9425231" cy="227754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backup of your code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 b="1">
                <a:solidFill>
                  <a:srgbClr val="005EB8"/>
                </a:solidFill>
              </a:rPr>
              <a:t>A separate version of your code for experimentation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type of file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A GitHub user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E9CFC77-558F-3767-2288-627A3E334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bg2"/>
                </a:solidFill>
              </a:rPr>
              <a:t>4. What is a branch in GitHub?</a:t>
            </a:r>
          </a:p>
        </p:txBody>
      </p:sp>
    </p:spTree>
    <p:extLst>
      <p:ext uri="{BB962C8B-B14F-4D97-AF65-F5344CB8AC3E}">
        <p14:creationId xmlns:p14="http://schemas.microsoft.com/office/powerpoint/2010/main" val="373441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5A34-8964-DE5E-B693-F3B52B0D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5DCD649-5BD0-B101-2110-E146AC4E79A7}"/>
              </a:ext>
            </a:extLst>
          </p:cNvPr>
          <p:cNvSpPr txBox="1"/>
          <p:nvPr/>
        </p:nvSpPr>
        <p:spPr>
          <a:xfrm>
            <a:off x="742897" y="2059394"/>
            <a:ext cx="9425231" cy="286232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 A request to delete a repository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 b="1">
                <a:solidFill>
                  <a:srgbClr val="00B9B8"/>
                </a:solidFill>
              </a:rPr>
              <a:t> A way to suggest changes to a project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 A command to update Git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r>
              <a:rPr lang="en-GB" sz="2800"/>
              <a:t> A GitHub notification</a:t>
            </a:r>
          </a:p>
          <a:p>
            <a:pPr marL="342900" indent="-342900">
              <a:spcAft>
                <a:spcPts val="1200"/>
              </a:spcAft>
              <a:buAutoNum type="alphaLcPeriod"/>
            </a:pPr>
            <a:endParaRPr lang="en-GB" sz="280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7514FE5-B4C2-5BB8-4590-C7BC8667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5. What is a pull request? </a:t>
            </a:r>
          </a:p>
        </p:txBody>
      </p:sp>
    </p:spTree>
    <p:extLst>
      <p:ext uri="{BB962C8B-B14F-4D97-AF65-F5344CB8AC3E}">
        <p14:creationId xmlns:p14="http://schemas.microsoft.com/office/powerpoint/2010/main" val="165222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4FC3-5535-1D81-088E-F5ABB9DBE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20925A4-0E3B-9E68-C432-8B57D0A85B50}"/>
              </a:ext>
            </a:extLst>
          </p:cNvPr>
          <p:cNvSpPr txBox="1"/>
          <p:nvPr/>
        </p:nvSpPr>
        <p:spPr>
          <a:xfrm>
            <a:off x="784221" y="2184522"/>
            <a:ext cx="9425231" cy="169277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True</a:t>
            </a:r>
          </a:p>
          <a:p>
            <a:r>
              <a:rPr lang="en-GB" b="1">
                <a:solidFill>
                  <a:srgbClr val="005EB8"/>
                </a:solidFill>
              </a:rPr>
              <a:t>False</a:t>
            </a:r>
          </a:p>
          <a:p>
            <a:r>
              <a:rPr lang="en-GB"/>
              <a:t>What’s the command line?!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F52E69-0572-F662-30AA-C3B043DE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 fontScale="90000"/>
          </a:bodyPr>
          <a:lstStyle/>
          <a:p>
            <a:r>
              <a:rPr lang="en-GB" sz="4000">
                <a:solidFill>
                  <a:srgbClr val="0070C0"/>
                </a:solidFill>
              </a:rPr>
              <a:t>6. True or False: You must use the command line to use GitHub</a:t>
            </a:r>
          </a:p>
        </p:txBody>
      </p:sp>
    </p:spTree>
    <p:extLst>
      <p:ext uri="{BB962C8B-B14F-4D97-AF65-F5344CB8AC3E}">
        <p14:creationId xmlns:p14="http://schemas.microsoft.com/office/powerpoint/2010/main" val="320935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8EED-BB6C-FF57-0F73-FD75D0CE8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526CA197-242F-305B-EC6E-E33DD109E176}"/>
              </a:ext>
            </a:extLst>
          </p:cNvPr>
          <p:cNvSpPr txBox="1"/>
          <p:nvPr/>
        </p:nvSpPr>
        <p:spPr>
          <a:xfrm>
            <a:off x="742897" y="2059394"/>
            <a:ext cx="9488758" cy="270843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 b="1">
                <a:solidFill>
                  <a:srgbClr val="00B9B8"/>
                </a:solidFill>
              </a:rPr>
              <a:t>Downloads changes from a remote repository and merges them into your local branch</a:t>
            </a:r>
          </a:p>
          <a:p>
            <a:r>
              <a:rPr lang="en-GB"/>
              <a:t>Saves changes locally</a:t>
            </a:r>
          </a:p>
          <a:p>
            <a:r>
              <a:rPr lang="en-GB"/>
              <a:t>Uploads local commits to GitHub</a:t>
            </a:r>
          </a:p>
          <a:p>
            <a:r>
              <a:rPr lang="en-GB"/>
              <a:t>Deletes your local repository and starts fresh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24DBD4F9-A8B0-CC79-776E-1F641C109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7. What does git pull do?</a:t>
            </a:r>
          </a:p>
        </p:txBody>
      </p:sp>
    </p:spTree>
    <p:extLst>
      <p:ext uri="{BB962C8B-B14F-4D97-AF65-F5344CB8AC3E}">
        <p14:creationId xmlns:p14="http://schemas.microsoft.com/office/powerpoint/2010/main" val="396324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B1352-A651-A82B-2E8C-01352EB5A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D00D5359-A29A-53B2-ACD4-1D51AAF6D463}"/>
              </a:ext>
            </a:extLst>
          </p:cNvPr>
          <p:cNvSpPr txBox="1"/>
          <p:nvPr/>
        </p:nvSpPr>
        <p:spPr>
          <a:xfrm>
            <a:off x="742897" y="2059394"/>
            <a:ext cx="9425231" cy="181588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Made a new repository</a:t>
            </a:r>
          </a:p>
          <a:p>
            <a:r>
              <a:rPr lang="en-GB"/>
              <a:t>Created a new branch</a:t>
            </a:r>
          </a:p>
          <a:p>
            <a:r>
              <a:rPr lang="en-GB" b="1">
                <a:solidFill>
                  <a:srgbClr val="005EB8"/>
                </a:solidFill>
              </a:rPr>
              <a:t>Saved a version of my project</a:t>
            </a:r>
          </a:p>
          <a:p>
            <a:r>
              <a:rPr lang="en-GB"/>
              <a:t>Put a ring on it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A728C23D-ECA4-1316-3373-9A220FC5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 fontScale="90000"/>
          </a:bodyPr>
          <a:lstStyle/>
          <a:p>
            <a:r>
              <a:rPr lang="en-GB" sz="4000">
                <a:solidFill>
                  <a:srgbClr val="0070C0"/>
                </a:solidFill>
              </a:rPr>
              <a:t>8. I make a commit in Git. What have I done?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F70A2C-2644-6986-54B9-B691C2539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49" y="3082548"/>
            <a:ext cx="3763178" cy="25087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348A83-17F9-9C28-9261-67E06A64C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488" y="4336940"/>
            <a:ext cx="28479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0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594E-8BD0-E9C9-3B2B-71A4356F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BCE919D9-6775-B813-FE3D-D14A45F73183}"/>
              </a:ext>
            </a:extLst>
          </p:cNvPr>
          <p:cNvSpPr txBox="1"/>
          <p:nvPr/>
        </p:nvSpPr>
        <p:spPr>
          <a:xfrm>
            <a:off x="742897" y="2059394"/>
            <a:ext cx="9425231" cy="1661993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Downloads changes from GitHub</a:t>
            </a:r>
          </a:p>
          <a:p>
            <a:r>
              <a:rPr lang="en-GB" b="1">
                <a:solidFill>
                  <a:srgbClr val="00B9B8"/>
                </a:solidFill>
              </a:rPr>
              <a:t>Uploads local commits to GitHub</a:t>
            </a:r>
          </a:p>
          <a:p>
            <a:r>
              <a:rPr lang="en-GB"/>
              <a:t>Creates a new repository</a:t>
            </a:r>
          </a:p>
          <a:p>
            <a:r>
              <a:rPr lang="en-GB"/>
              <a:t>Merges branches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A5D97B99-2677-72EC-E1AD-C5F4F3FAF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B9B8"/>
                </a:solidFill>
              </a:rPr>
              <a:t>9. What does git push do?</a:t>
            </a:r>
          </a:p>
        </p:txBody>
      </p:sp>
    </p:spTree>
    <p:extLst>
      <p:ext uri="{BB962C8B-B14F-4D97-AF65-F5344CB8AC3E}">
        <p14:creationId xmlns:p14="http://schemas.microsoft.com/office/powerpoint/2010/main" val="54015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8A531-1B43-F419-D8A8-19E9341D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387A6D87-03D7-FDCD-7C2A-D40940B19481}"/>
              </a:ext>
            </a:extLst>
          </p:cNvPr>
          <p:cNvSpPr txBox="1"/>
          <p:nvPr/>
        </p:nvSpPr>
        <p:spPr>
          <a:xfrm>
            <a:off x="784221" y="2132546"/>
            <a:ext cx="9425231" cy="227754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spcAft>
                <a:spcPts val="1200"/>
              </a:spcAft>
              <a:buAutoNum type="alphaLcPeriod"/>
              <a:defRPr sz="2800"/>
            </a:lvl1pPr>
          </a:lstStyle>
          <a:p>
            <a:r>
              <a:rPr lang="en-GB"/>
              <a:t>Issues</a:t>
            </a:r>
          </a:p>
          <a:p>
            <a:r>
              <a:rPr lang="en-GB"/>
              <a:t>Forks</a:t>
            </a:r>
          </a:p>
          <a:p>
            <a:r>
              <a:rPr lang="en-GB"/>
              <a:t>Commits</a:t>
            </a:r>
          </a:p>
          <a:p>
            <a:r>
              <a:rPr lang="en-GB" b="1">
                <a:solidFill>
                  <a:schemeClr val="bg2"/>
                </a:solidFill>
              </a:rPr>
              <a:t>Filters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5037500-DCD6-5E44-508F-F5B7AB34B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979323"/>
            <a:ext cx="10129674" cy="865186"/>
          </a:xfrm>
        </p:spPr>
        <p:txBody>
          <a:bodyPr>
            <a:normAutofit fontScale="90000"/>
          </a:bodyPr>
          <a:lstStyle/>
          <a:p>
            <a:r>
              <a:rPr lang="en-GB" sz="4000">
                <a:solidFill>
                  <a:srgbClr val="0070C0"/>
                </a:solidFill>
              </a:rPr>
              <a:t>10. Which of the following is not a valid GitHub feature?</a:t>
            </a:r>
          </a:p>
        </p:txBody>
      </p:sp>
    </p:spTree>
    <p:extLst>
      <p:ext uri="{BB962C8B-B14F-4D97-AF65-F5344CB8AC3E}">
        <p14:creationId xmlns:p14="http://schemas.microsoft.com/office/powerpoint/2010/main" val="128064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43F64-8EC5-6FEF-6291-56574279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26D804-3E53-F70A-48DE-3C6E84E32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63" y="1087870"/>
            <a:ext cx="5013491" cy="5013491"/>
          </a:xfrm>
          <a:prstGeom prst="rect">
            <a:avLst/>
          </a:prstGeom>
          <a:solidFill>
            <a:srgbClr val="FBFAF8"/>
          </a:solidFill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CD5DA6A-4332-3C6E-D272-6ABC97C8BBCB}"/>
              </a:ext>
            </a:extLst>
          </p:cNvPr>
          <p:cNvSpPr/>
          <p:nvPr/>
        </p:nvSpPr>
        <p:spPr>
          <a:xfrm>
            <a:off x="6261422" y="4842260"/>
            <a:ext cx="1432795" cy="1008623"/>
          </a:xfrm>
          <a:prstGeom prst="rect">
            <a:avLst/>
          </a:prstGeom>
          <a:solidFill>
            <a:srgbClr val="FBFAF8"/>
          </a:solidFill>
          <a:ln>
            <a:solidFill>
              <a:srgbClr val="FBFA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9DFAC7D2-2E49-E9D1-2566-DE4B5839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47" y="141925"/>
            <a:ext cx="3851242" cy="865186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70C0"/>
                </a:solidFill>
              </a:rPr>
              <a:t>Picture round…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4535E-FD2F-56AB-2F04-17B97EFFFB8A}"/>
              </a:ext>
            </a:extLst>
          </p:cNvPr>
          <p:cNvSpPr txBox="1"/>
          <p:nvPr/>
        </p:nvSpPr>
        <p:spPr>
          <a:xfrm>
            <a:off x="789272" y="2157986"/>
            <a:ext cx="22525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>
                <a:solidFill>
                  <a:schemeClr val="bg2"/>
                </a:solidFill>
              </a:rPr>
              <a:t>1. GitHub logo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1F2AB-1420-43B1-C7CB-F5EC2C59CB18}"/>
              </a:ext>
            </a:extLst>
          </p:cNvPr>
          <p:cNvSpPr txBox="1"/>
          <p:nvPr/>
        </p:nvSpPr>
        <p:spPr>
          <a:xfrm>
            <a:off x="8615177" y="3739264"/>
            <a:ext cx="23201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>
                <a:solidFill>
                  <a:schemeClr val="bg2"/>
                </a:solidFill>
              </a:rPr>
              <a:t>4. Branch icon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C0529-79DF-89F2-8C7F-E0A9715DD329}"/>
              </a:ext>
            </a:extLst>
          </p:cNvPr>
          <p:cNvSpPr txBox="1"/>
          <p:nvPr/>
        </p:nvSpPr>
        <p:spPr>
          <a:xfrm>
            <a:off x="1078029" y="5184584"/>
            <a:ext cx="19637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>
                <a:solidFill>
                  <a:schemeClr val="bg2"/>
                </a:solidFill>
              </a:rPr>
              <a:t>5. README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CB03D-3AA3-4373-7522-0B988A260B79}"/>
              </a:ext>
            </a:extLst>
          </p:cNvPr>
          <p:cNvSpPr txBox="1"/>
          <p:nvPr/>
        </p:nvSpPr>
        <p:spPr>
          <a:xfrm>
            <a:off x="789272" y="3754408"/>
            <a:ext cx="22525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>
                <a:solidFill>
                  <a:srgbClr val="00B9B8"/>
                </a:solidFill>
              </a:rPr>
              <a:t>3. Pull 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76DBE-2787-CCD0-B446-7A883835C3DD}"/>
              </a:ext>
            </a:extLst>
          </p:cNvPr>
          <p:cNvSpPr txBox="1"/>
          <p:nvPr/>
        </p:nvSpPr>
        <p:spPr>
          <a:xfrm>
            <a:off x="5949097" y="4705332"/>
            <a:ext cx="328629" cy="430887"/>
          </a:xfrm>
          <a:prstGeom prst="rect">
            <a:avLst/>
          </a:prstGeom>
          <a:solidFill>
            <a:srgbClr val="FBFAF8"/>
          </a:solidFill>
          <a:ln>
            <a:solidFill>
              <a:srgbClr val="FBFAF8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b="1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C63DB4-D3BF-A451-55FB-37D212E5E37D}"/>
              </a:ext>
            </a:extLst>
          </p:cNvPr>
          <p:cNvSpPr txBox="1"/>
          <p:nvPr/>
        </p:nvSpPr>
        <p:spPr>
          <a:xfrm>
            <a:off x="8650067" y="4846030"/>
            <a:ext cx="2250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>
                <a:solidFill>
                  <a:srgbClr val="00B9B8"/>
                </a:solidFill>
              </a:rPr>
              <a:t>6. Merge icon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9EA7F-2648-BC22-7A04-196F1468A42F}"/>
              </a:ext>
            </a:extLst>
          </p:cNvPr>
          <p:cNvSpPr txBox="1"/>
          <p:nvPr/>
        </p:nvSpPr>
        <p:spPr>
          <a:xfrm>
            <a:off x="8615178" y="1738310"/>
            <a:ext cx="23201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>
                <a:solidFill>
                  <a:srgbClr val="00B9B8"/>
                </a:solidFill>
              </a:rPr>
              <a:t>2. Folder or directory within a repo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1EF2D6-99D6-23EC-8833-E5EDEC789573}"/>
              </a:ext>
            </a:extLst>
          </p:cNvPr>
          <p:cNvGrpSpPr/>
          <p:nvPr/>
        </p:nvGrpSpPr>
        <p:grpSpPr>
          <a:xfrm>
            <a:off x="3782159" y="1832789"/>
            <a:ext cx="3940288" cy="4277821"/>
            <a:chOff x="3782159" y="1832789"/>
            <a:chExt cx="3940288" cy="42778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71BFD4-D853-2E5E-E8B4-40803C93F844}"/>
                </a:ext>
              </a:extLst>
            </p:cNvPr>
            <p:cNvSpPr txBox="1"/>
            <p:nvPr/>
          </p:nvSpPr>
          <p:spPr>
            <a:xfrm>
              <a:off x="5832909" y="1876810"/>
              <a:ext cx="32862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200" b="1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6DC978-5CAB-89A5-1A5D-A78878197054}"/>
                </a:ext>
              </a:extLst>
            </p:cNvPr>
            <p:cNvSpPr txBox="1"/>
            <p:nvPr/>
          </p:nvSpPr>
          <p:spPr>
            <a:xfrm>
              <a:off x="3782159" y="3379173"/>
              <a:ext cx="328629" cy="430887"/>
            </a:xfrm>
            <a:prstGeom prst="rect">
              <a:avLst/>
            </a:prstGeom>
            <a:solidFill>
              <a:srgbClr val="FBFAF8"/>
            </a:solidFill>
          </p:spPr>
          <p:txBody>
            <a:bodyPr wrap="square" rtlCol="0">
              <a:spAutoFit/>
            </a:bodyPr>
            <a:lstStyle/>
            <a:p>
              <a:r>
                <a:rPr lang="en-GB" sz="2200" b="1"/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D1B4A1-A7EB-1D62-FF84-00E545ECF481}"/>
                </a:ext>
              </a:extLst>
            </p:cNvPr>
            <p:cNvSpPr txBox="1"/>
            <p:nvPr/>
          </p:nvSpPr>
          <p:spPr>
            <a:xfrm>
              <a:off x="5923145" y="3404291"/>
              <a:ext cx="328629" cy="430887"/>
            </a:xfrm>
            <a:prstGeom prst="rect">
              <a:avLst/>
            </a:prstGeom>
            <a:solidFill>
              <a:srgbClr val="FBFAF8"/>
            </a:solidFill>
            <a:ln>
              <a:solidFill>
                <a:srgbClr val="FBFAF8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200" b="1"/>
                <a:t>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4FBB2E-986D-128D-D583-FCA3A086862C}"/>
                </a:ext>
              </a:extLst>
            </p:cNvPr>
            <p:cNvSpPr txBox="1"/>
            <p:nvPr/>
          </p:nvSpPr>
          <p:spPr>
            <a:xfrm>
              <a:off x="3782159" y="4688382"/>
              <a:ext cx="328629" cy="430887"/>
            </a:xfrm>
            <a:prstGeom prst="rect">
              <a:avLst/>
            </a:prstGeom>
            <a:solidFill>
              <a:srgbClr val="FBFAF8"/>
            </a:solidFill>
            <a:ln>
              <a:solidFill>
                <a:srgbClr val="FBFAF8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200" b="1"/>
                <a:t>5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2DA0D49-0AAA-B505-6ACB-088ED74D6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774" y="3378815"/>
              <a:ext cx="1250606" cy="1250606"/>
            </a:xfrm>
            <a:prstGeom prst="rect">
              <a:avLst/>
            </a:prstGeom>
            <a:solidFill>
              <a:srgbClr val="FBFAF8"/>
            </a:solidFill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A2604A9-E7A5-836A-842B-72951BD30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3434" y="1832789"/>
              <a:ext cx="1512168" cy="1512168"/>
            </a:xfrm>
            <a:prstGeom prst="rect">
              <a:avLst/>
            </a:prstGeom>
            <a:solidFill>
              <a:srgbClr val="FBFAF8"/>
            </a:solidFill>
          </p:spPr>
        </p:pic>
        <p:pic>
          <p:nvPicPr>
            <p:cNvPr id="29" name="Picture 2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025B492-B941-1F6C-CB37-D503B2859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97621" y="4685784"/>
              <a:ext cx="1424826" cy="1424826"/>
            </a:xfrm>
            <a:prstGeom prst="rect">
              <a:avLst/>
            </a:prstGeom>
          </p:spPr>
        </p:pic>
        <p:pic>
          <p:nvPicPr>
            <p:cNvPr id="1050" name="Picture 26">
              <a:extLst>
                <a:ext uri="{FF2B5EF4-FFF2-40B4-BE49-F238E27FC236}">
                  <a16:creationId xmlns:a16="http://schemas.microsoft.com/office/drawing/2014/main" id="{17480D8F-1362-3DCA-AEF5-FFC2EF5B12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726" y="3478950"/>
              <a:ext cx="1221852" cy="1221852"/>
            </a:xfrm>
            <a:prstGeom prst="rect">
              <a:avLst/>
            </a:prstGeom>
            <a:solidFill>
              <a:srgbClr val="FBFAF8"/>
            </a:solidFill>
            <a:ln>
              <a:solidFill>
                <a:srgbClr val="FBFAF8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69800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HSD-Refresh-Theme-NOV1120B">
  <a:themeElements>
    <a:clrScheme name="Custom 2">
      <a:dk1>
        <a:srgbClr val="FFFFFF"/>
      </a:dk1>
      <a:lt1>
        <a:srgbClr val="231F20"/>
      </a:lt1>
      <a:dk2>
        <a:srgbClr val="005EB8"/>
      </a:dk2>
      <a:lt2>
        <a:srgbClr val="F4F6F8"/>
      </a:lt2>
      <a:accent1>
        <a:srgbClr val="003087"/>
      </a:accent1>
      <a:accent2>
        <a:srgbClr val="768692"/>
      </a:accent2>
      <a:accent3>
        <a:srgbClr val="C7CED3"/>
      </a:accent3>
      <a:accent4>
        <a:srgbClr val="99DDEB"/>
      </a:accent4>
      <a:accent5>
        <a:srgbClr val="80D2CC"/>
      </a:accent5>
      <a:accent6>
        <a:srgbClr val="425563"/>
      </a:accent6>
      <a:hlink>
        <a:srgbClr val="005EB8"/>
      </a:hlink>
      <a:folHlink>
        <a:srgbClr val="0030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SE Ppt Template" id="{FF88470C-2FD3-4E3A-A054-29EA9D5FA132}" vid="{FE9FC556-3568-42BD-A98C-E0B88106A2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67cd05-db79-4376-acf2-fd97aaab4b32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SharedWithUsers xmlns="19ad61a0-b527-4b3d-990a-302b4323a1c4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D7AEB253D84D40AB028D03AF2072F9" ma:contentTypeVersion="15" ma:contentTypeDescription="Create a new document." ma:contentTypeScope="" ma:versionID="533080eb3d138c6b968512a3d4390b59">
  <xsd:schema xmlns:xsd="http://www.w3.org/2001/XMLSchema" xmlns:xs="http://www.w3.org/2001/XMLSchema" xmlns:p="http://schemas.microsoft.com/office/2006/metadata/properties" xmlns:ns1="http://schemas.microsoft.com/sharepoint/v3" xmlns:ns2="5e67cd05-db79-4376-acf2-fd97aaab4b32" xmlns:ns3="19ad61a0-b527-4b3d-990a-302b4323a1c4" targetNamespace="http://schemas.microsoft.com/office/2006/metadata/properties" ma:root="true" ma:fieldsID="74a1b8877e881588c6cba42be517be8a" ns1:_="" ns2:_="" ns3:_="">
    <xsd:import namespace="http://schemas.microsoft.com/sharepoint/v3"/>
    <xsd:import namespace="5e67cd05-db79-4376-acf2-fd97aaab4b32"/>
    <xsd:import namespace="19ad61a0-b527-4b3d-990a-302b4323a1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7cd05-db79-4376-acf2-fd97aaab4b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c8d5fda-b97d-42c6-97e2-f76465e1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ad61a0-b527-4b3d-990a-302b4323a1c4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2B3C52-C4E5-4003-8240-632FDE102EAB}">
  <ds:schemaRefs>
    <ds:schemaRef ds:uri="19ad61a0-b527-4b3d-990a-302b4323a1c4"/>
    <ds:schemaRef ds:uri="5e67cd05-db79-4376-acf2-fd97aaab4b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B9A53D4-A456-49A3-97F9-58A711D2FC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e67cd05-db79-4376-acf2-fd97aaab4b32"/>
    <ds:schemaRef ds:uri="19ad61a0-b527-4b3d-990a-302b4323a1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6D4F5-ECA0-4A22-A4DD-3335756FD66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NHSE Ppt Template</Template>
  <TotalTime>327</TotalTime>
  <Words>862</Words>
  <Application>Microsoft Office PowerPoint</Application>
  <PresentationFormat>Widescreen</PresentationFormat>
  <Paragraphs>174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NHSD-Refresh-Theme-NOV1120B</vt:lpstr>
      <vt:lpstr>GitPub Quiz</vt:lpstr>
      <vt:lpstr>1. What is GitHub primarily used for? </vt:lpstr>
      <vt:lpstr>2. What is a repository (repo) in GitHub?</vt:lpstr>
      <vt:lpstr>3. Finish this sentence: “A git clone…” </vt:lpstr>
      <vt:lpstr>4. What is a branch in GitHub?</vt:lpstr>
      <vt:lpstr>5. What is a pull request? </vt:lpstr>
      <vt:lpstr>6. True or False: You must use the command line to use GitHub</vt:lpstr>
      <vt:lpstr>7. What does git pull do?</vt:lpstr>
      <vt:lpstr>8. I make a commit in Git. What have I done?</vt:lpstr>
      <vt:lpstr>9. What does git push do?</vt:lpstr>
      <vt:lpstr>10. Which of the following is not a valid GitHub feature?</vt:lpstr>
      <vt:lpstr>Picture round…</vt:lpstr>
      <vt:lpstr>Answers</vt:lpstr>
      <vt:lpstr>1. What is GitHub primarily used for? </vt:lpstr>
      <vt:lpstr>2. What is a repository (repo) in GitHub?</vt:lpstr>
      <vt:lpstr>3. Finish this sentence: “A git clone…” </vt:lpstr>
      <vt:lpstr>4. What is a branch in GitHub?</vt:lpstr>
      <vt:lpstr>5. What is a pull request? </vt:lpstr>
      <vt:lpstr>6. True or False: You must use the command line to use GitHub</vt:lpstr>
      <vt:lpstr>7. What does git pull do?</vt:lpstr>
      <vt:lpstr>8. I make a commit in Git. What have I done?</vt:lpstr>
      <vt:lpstr>9. What does git push do?</vt:lpstr>
      <vt:lpstr>10. Which of the following is not a valid GitHub feature?</vt:lpstr>
      <vt:lpstr>Picture round…</vt:lpstr>
    </vt:vector>
  </TitlesOfParts>
  <Company>NHS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HOOK, Tom (NHS ENGLAND - X24)</dc:creator>
  <cp:lastModifiedBy>BLINCKO, Sarah (NHS ENGLAND)</cp:lastModifiedBy>
  <cp:revision>2</cp:revision>
  <dcterms:created xsi:type="dcterms:W3CDTF">2024-06-27T13:40:24Z</dcterms:created>
  <dcterms:modified xsi:type="dcterms:W3CDTF">2025-11-11T16:04:49Z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0x01010073D7AEB253D84D40AB028D03AF2072F9</vt:lpwstr>
  </property>
  <property fmtid="{D5CDD505-2E9C-101B-9397-08002B2CF9AE}" pid="3" name="_dlc_DocIdItemGuid">
    <vt:lpwstr>56579ddb-1cdf-4035-9a3d-2da04fab6c26</vt:lpwstr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