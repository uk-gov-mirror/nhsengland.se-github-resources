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4"/>
  </p:sldMasterIdLst>
  <p:notesMasterIdLst>
    <p:notesMasterId r:id="rId13"/>
  </p:notesMasterIdLst>
  <p:handoutMasterIdLst>
    <p:handoutMasterId r:id="rId14"/>
  </p:handoutMasterIdLst>
  <p:sldIdLst>
    <p:sldId id="1923" r:id="rId5"/>
    <p:sldId id="2147378244" r:id="rId6"/>
    <p:sldId id="2147378264" r:id="rId7"/>
    <p:sldId id="2147378242" r:id="rId8"/>
    <p:sldId id="2147378248" r:id="rId9"/>
    <p:sldId id="2147378247" r:id="rId10"/>
    <p:sldId id="2147378252" r:id="rId11"/>
    <p:sldId id="214737825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E61470D-D743-4E1E-9CEE-39DD379902E9}">
          <p14:sldIdLst>
            <p14:sldId id="1923"/>
            <p14:sldId id="2147378244"/>
            <p14:sldId id="2147378264"/>
            <p14:sldId id="2147378242"/>
            <p14:sldId id="2147378248"/>
            <p14:sldId id="2147378247"/>
            <p14:sldId id="2147378252"/>
            <p14:sldId id="214737825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58D9512-6FD5-6297-306C-34B0D149D127}" name="BIRKS, Laura (NHS ENGLAND)" initials="BE" userId="S::laura.birks2@nhs.net::da3c8bd5-06ba-41d7-9043-89ea25be9882" providerId="AD"/>
  <p188:author id="{A7EADA63-EDB5-2190-2E40-4B74C5B6736F}" name="BLINCKO, Sarah (NHS ENGLAND)" initials="SB" userId="S::sarah.blincko1@nhs.net::dd26e808-a766-485b-886c-5159454dd072" providerId="AD"/>
  <p188:author id="{4C683273-CC4E-53BB-BC0C-D25BC74C4DE1}" name="DEAN, Grace (NHS ENGLAND - X24)" initials="GD" userId="S::grace.dean1@nhs.net::59ce8c75-cae9-4b19-aaa4-16b5d11a7e34" providerId="AD"/>
  <p188:author id="{195DDE8A-3633-796B-479E-E3AE1166D0AB}" name="Samantha Warnakula" initials="SW" userId="S::samantha.warnakula1@nhs.net::a2a1d2e4-a5ba-45a0-8006-25849eae4e68" providerId="AD"/>
  <p188:author id="{98F962CC-1BA2-C892-411B-A55F62DBB360}" name="AKINLOYE, Samantha (NHS ENGLAND - X24)" initials="Sa" userId="S::samantha.akinloye@nhs.net::a2a1d2e4-a5ba-45a0-8006-25849eae4e68" providerId="AD"/>
  <p188:author id="{661885E2-CD68-5E2C-7E58-8456EC034E83}" name="MASSAM, Robert (NHS ENGLAND)" initials="ME" userId="S::r.massam@nhs.net::2781aa12-8428-417f-8f39-180a205c34bf" providerId="AD"/>
  <p188:author id="{475F94FD-8EBD-4FDF-1D3F-F2645AA08D82}" name="Tom Hook" initials="TH" userId="S::tom.hook2@nhs.net::3a6c974b-d64a-4398-91e6-9e5e306404b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h Wilkinson" initials="SW" lastIdx="1" clrIdx="0">
    <p:extLst>
      <p:ext uri="{19B8F6BF-5375-455C-9EA6-DF929625EA0E}">
        <p15:presenceInfo xmlns:p15="http://schemas.microsoft.com/office/powerpoint/2012/main" userId="1186059c3be801a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B8"/>
    <a:srgbClr val="00B9B8"/>
    <a:srgbClr val="FBFAF8"/>
    <a:srgbClr val="E78DC0"/>
    <a:srgbClr val="B587CF"/>
    <a:srgbClr val="EA99C7"/>
    <a:srgbClr val="C7A3DA"/>
    <a:srgbClr val="F6F8F8"/>
    <a:srgbClr val="003087"/>
    <a:srgbClr val="F270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6" d="100"/>
          <a:sy n="106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INCKO, Sarah (NHS ENGLAND)" userId="dd26e808-a766-485b-886c-5159454dd072" providerId="ADAL" clId="{3F87E013-0E27-473E-BFA9-1A515C100D53}"/>
    <pc:docChg chg="undo custSel delSld modSld sldOrd delMainMaster modSection">
      <pc:chgData name="BLINCKO, Sarah (NHS ENGLAND)" userId="dd26e808-a766-485b-886c-5159454dd072" providerId="ADAL" clId="{3F87E013-0E27-473E-BFA9-1A515C100D53}" dt="2025-11-11T15:24:44.793" v="22" actId="14100"/>
      <pc:docMkLst>
        <pc:docMk/>
      </pc:docMkLst>
      <pc:sldChg chg="addSp delSp modSp mod">
        <pc:chgData name="BLINCKO, Sarah (NHS ENGLAND)" userId="dd26e808-a766-485b-886c-5159454dd072" providerId="ADAL" clId="{3F87E013-0E27-473E-BFA9-1A515C100D53}" dt="2025-11-11T15:24:44.793" v="22" actId="14100"/>
        <pc:sldMkLst>
          <pc:docMk/>
          <pc:sldMk cId="878866541" sldId="2147378244"/>
        </pc:sldMkLst>
        <pc:picChg chg="add mod modCrop">
          <ac:chgData name="BLINCKO, Sarah (NHS ENGLAND)" userId="dd26e808-a766-485b-886c-5159454dd072" providerId="ADAL" clId="{3F87E013-0E27-473E-BFA9-1A515C100D53}" dt="2025-11-11T15:24:44.793" v="22" actId="14100"/>
          <ac:picMkLst>
            <pc:docMk/>
            <pc:sldMk cId="878866541" sldId="2147378244"/>
            <ac:picMk id="3" creationId="{EC92FC0C-53CD-4504-B127-14BB2CFE97E1}"/>
          </ac:picMkLst>
        </pc:picChg>
        <pc:picChg chg="del mod modCrop">
          <ac:chgData name="BLINCKO, Sarah (NHS ENGLAND)" userId="dd26e808-a766-485b-886c-5159454dd072" providerId="ADAL" clId="{3F87E013-0E27-473E-BFA9-1A515C100D53}" dt="2025-11-11T15:24:24.075" v="15" actId="478"/>
          <ac:picMkLst>
            <pc:docMk/>
            <pc:sldMk cId="878866541" sldId="2147378244"/>
            <ac:picMk id="10" creationId="{113A1AF1-1183-5742-E3C5-802811BD9D4E}"/>
          </ac:picMkLst>
        </pc:picChg>
      </pc:sldChg>
    </pc:docChg>
  </pc:docChgLst>
  <pc:docChgLst>
    <pc:chgData name="HOOK, Tom (NHS ENGLAND)" userId="S::tom.hook2@nhs.net::3a6c974b-d64a-4398-91e6-9e5e306404bf" providerId="AD" clId="Web-{B4B091C4-2958-C6E9-0FE9-B08724054C72}"/>
    <pc:docChg chg="modSld">
      <pc:chgData name="HOOK, Tom (NHS ENGLAND)" userId="S::tom.hook2@nhs.net::3a6c974b-d64a-4398-91e6-9e5e306404bf" providerId="AD" clId="Web-{B4B091C4-2958-C6E9-0FE9-B08724054C72}" dt="2025-11-10T11:25:52.171" v="7" actId="14100"/>
      <pc:docMkLst>
        <pc:docMk/>
      </pc:docMkLst>
      <pc:sldChg chg="modSp">
        <pc:chgData name="HOOK, Tom (NHS ENGLAND)" userId="S::tom.hook2@nhs.net::3a6c974b-d64a-4398-91e6-9e5e306404bf" providerId="AD" clId="Web-{B4B091C4-2958-C6E9-0FE9-B08724054C72}" dt="2025-11-10T11:25:52.171" v="7" actId="14100"/>
        <pc:sldMkLst>
          <pc:docMk/>
          <pc:sldMk cId="878866541" sldId="2147378244"/>
        </pc:sldMkLst>
        <pc:picChg chg="mod">
          <ac:chgData name="HOOK, Tom (NHS ENGLAND)" userId="S::tom.hook2@nhs.net::3a6c974b-d64a-4398-91e6-9e5e306404bf" providerId="AD" clId="Web-{B4B091C4-2958-C6E9-0FE9-B08724054C72}" dt="2025-11-10T11:25:52.171" v="7" actId="14100"/>
          <ac:picMkLst>
            <pc:docMk/>
            <pc:sldMk cId="878866541" sldId="2147378244"/>
            <ac:picMk id="10" creationId="{113A1AF1-1183-5742-E3C5-802811BD9D4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2EEC95-64DF-BC69-FC71-A682B40486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611872-9401-5D00-CCCA-46DDE0B8B9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6D816-94D6-40FC-B977-F8A94C7E4824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56112-4593-5EC1-B7DA-2B07022F7A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C22BD-2C7D-A062-42A2-EA161F716A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EB188-56CE-4FCB-8130-436851797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181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ED4C3-48B6-4E4A-9B0F-8051E56348DC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EC7EF-95E1-3D44-A982-BC7A3E9C61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633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Standard 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756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22A40-511E-DC28-529C-2C86D6A72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1C166-1893-C31C-ED0C-6465BD1BF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FF74D-7960-F5DE-DD92-7BAF65D9E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7D4D1-4B48-E25D-FD0A-4EC42ABD6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750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51FF7-DB88-0CC2-A428-1A741E094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9C66D-A9B2-CA7D-402D-4D03A19B3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7466E-8914-0466-3853-33A1B918C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9F8A5-9527-99A4-B191-254CC3F2F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432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036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0D78-DEBB-39A3-FD07-D671BE7F2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D0760-28ED-AE51-B59D-9FAC89BF0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4498A-5D07-284D-A44A-4B36412FC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E0F37-C990-9445-3E3F-24D610C53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809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8C23-27C9-FFA9-7756-AD1EB96C7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36307-70BA-5BF7-CB5C-FACA86FBF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8ED83-5F94-3D83-FA91-C2F3C530F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62CAC-E4E6-6C05-B922-1D6F4CA0A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508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ing, content, basic text one col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5138" y="414734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75138" y="1415778"/>
            <a:ext cx="7632000" cy="40264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45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mple-Icons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1F68A-44AA-5742-B124-91614CFD1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68E66E-4300-C34D-B490-E2E6A73E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37980B-A75B-014B-A7A8-965882204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B5FF7D-C2EF-9E4C-A4CF-A835052E5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7481C1-F4F0-BE4E-B991-152BB9620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BC860F-BE8A-634D-9A96-33CE6D96B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88926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A913FF-786C-1944-BF18-E9AB064B3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0393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22D839-E390-8340-B649-B4FC5A6CF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1860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40EE3D-EEFC-874A-A65B-DDDE03FC3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3327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667BF2-B8EF-D949-9F15-FC3B3099A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94794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201170-3375-514F-99C2-E37C69039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6258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572B-1544-A043-9B02-7AB01C90C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D2BEC2-9D68-CC4D-A04A-BB949A02D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15083-D44F-FE40-A8D1-7BFAC700D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67BC68-4FB2-EE4A-A33E-6A7AF0CF4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88926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77C142-7A53-7A4A-A8FB-FBF33048E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0393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DC5831-BE66-5045-87AF-18EBDF027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1860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B65DE4-B016-474E-A1C1-495957C7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3327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B3AA15-3E6B-C347-B0BE-F416C5684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94794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C0924D-A95B-1E43-84A3-825886C48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6258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737CC-78B4-0C46-99B9-341CFA60E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55CAA-C332-E746-A62B-4F86F892F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322EA-8B44-2C46-9412-34692FAFE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462B7-0B7F-EA46-9EFF-D26991D23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522785-C8F3-734E-AF20-487FED2CE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88926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8AD1D6-A541-1941-8B56-2FF093676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0393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44F750-124C-F246-BCDD-67595B93D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1860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499656-96AE-C649-B3C1-81D5C6F60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3327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150134-3C23-2A41-8EC0-2D0F308CD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94794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542EAC-EEE9-2748-9DAC-6986FFF63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6258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1CDB1A-8B42-520A-323D-5D120AA42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9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ample-Icons-Layout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1F68A-44AA-5742-B124-91614CFD1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572B-1544-A043-9B02-7AB01C90C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D2BEC2-9D68-CC4D-A04A-BB949A02D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15083-D44F-FE40-A8D1-7BFAC700D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737CC-78B4-0C46-99B9-341CFA60E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55CAA-C332-E746-A62B-4F86F892F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322EA-8B44-2C46-9412-34692FAFE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462B7-0B7F-EA46-9EFF-D26991D23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0BDAA4-2C6C-4E47-9616-5977DD23D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22911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91AF0D-B60D-2949-AB30-089AD6A4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74153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6B0456-3FC3-5D44-A9F1-56A57FD0B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5395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9F651-3737-5832-DC5A-9DB8A57B6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1CA835D-248C-29AB-B7DE-5AD7C7D2A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21844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head, two columns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B79D01-2A70-DAF1-6A65-BC0424C2F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5992"/>
            <a:ext cx="11088000" cy="3456000"/>
          </a:xfrm>
          <a:prstGeom prst="rect">
            <a:avLst/>
          </a:prstGeom>
        </p:spPr>
        <p:txBody>
          <a:bodyPr lIns="0" tIns="0" rIns="0" bIns="0" numCol="2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2133D-2149-6B45-BEAB-A2D5E225B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08789" y="6336000"/>
            <a:ext cx="1139921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72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, subhead, Three columns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6000"/>
            <a:ext cx="11088000" cy="3456000"/>
          </a:xfrm>
          <a:prstGeom prst="rect">
            <a:avLst/>
          </a:prstGeom>
        </p:spPr>
        <p:txBody>
          <a:bodyPr lIns="0" tIns="0" rIns="0" bIns="0" numCol="3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9D545D-FD2F-4843-8588-07EBE7DDA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487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07F89CB-5AF7-9C7B-6503-F287E127E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01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, subhead, bullets one column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828800"/>
            <a:ext cx="11088000" cy="43991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1073366"/>
            <a:ext cx="11012644" cy="577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771D90-A686-C949-8872-F69893BCF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08527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D5CE1C-46DF-8846-A4A0-E19A9CC39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4955267-CD3E-4484-1B20-32E90EB4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IG">
            <a:extLst>
              <a:ext uri="{FF2B5EF4-FFF2-40B4-BE49-F238E27FC236}">
                <a16:creationId xmlns:a16="http://schemas.microsoft.com/office/drawing/2014/main" id="{DA3D1B79-C342-CD69-2296-9881D7008963}"/>
              </a:ext>
            </a:extLst>
          </p:cNvPr>
          <p:cNvSpPr txBox="1"/>
          <p:nvPr userDrawn="1"/>
        </p:nvSpPr>
        <p:spPr>
          <a:xfrm>
            <a:off x="432000" y="6428701"/>
            <a:ext cx="60585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All data is for management information purposes and is not for wider circulation or publication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A5A5A5">
                  <a:lumMod val="60000"/>
                  <a:lumOff val="40000"/>
                </a:srgbClr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6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slide with image 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93" y="1647568"/>
            <a:ext cx="4909569" cy="313006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ts val="4200"/>
              </a:lnSpc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Headline over a number of lines,</a:t>
            </a:r>
            <a:br>
              <a:rPr lang="en-GB"/>
            </a:br>
            <a:r>
              <a:rPr lang="en-GB"/>
              <a:t>keep to maximum of four lines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pPr algn="r"/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F456E7-F404-A541-B6E9-27C1B10EC6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</p:spTree>
    <p:extLst>
      <p:ext uri="{BB962C8B-B14F-4D97-AF65-F5344CB8AC3E}">
        <p14:creationId xmlns:p14="http://schemas.microsoft.com/office/powerpoint/2010/main" val="304328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id Boxes 4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244FF8-F4E4-0514-77D0-8D8D69F93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ACF78F6-439A-384B-9C21-D11B5B50E0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77721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77721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1884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1884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77721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77721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9447" y="375220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1884" y="465042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BEB741-20EA-C36A-7EF8-DE1CD1F1A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18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id Boxes 2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2000" y="2699082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2000" y="1691082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4378" y="2699082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24378" y="1691082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5DD270E-858A-0745-A4F5-3FE5B49194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D787DC-00EF-B13A-FE97-CE51273E8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783BA3-377B-7D8A-0B7B-91C314676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61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Grid, Titles 4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205929B3-ED58-E54F-B724-E24FB5F16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2000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92000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92000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4644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2000" y="3744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2000" y="4644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92000" y="3744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F5640E1-FA0E-4F42-9387-CD7C434D2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555C5-A77A-2E44-BAF7-246298421E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1296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4B913F3-B51C-1F4F-BA00-F024BBF468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00000" y="1302462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A16CC21-F99A-6F47-A063-FA9FE06BAE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0000" y="3852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11DBD00-D83F-EF49-900D-B6C65CED27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0000" y="3852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9357DCD-A469-B34A-A880-D744CA731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BA4CC6C-41AA-2D50-A8B9-63559566F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8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lue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F1649F8-C95E-B04E-A0E7-F89193CC97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7224" y="1314156"/>
            <a:ext cx="7503849" cy="3466727"/>
          </a:xfrm>
          <a:prstGeom prst="rect">
            <a:avLst/>
          </a:prstGeom>
        </p:spPr>
        <p:txBody>
          <a:bodyPr>
            <a:noAutofit/>
          </a:bodyPr>
          <a:lstStyle>
            <a:lvl1pPr marL="288000" indent="-288000" algn="l">
              <a:buNone/>
              <a:defRPr sz="42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“Showcase quotation</a:t>
            </a:r>
            <a:br>
              <a:rPr lang="en-GB"/>
            </a:br>
            <a:r>
              <a:rPr lang="en-GB"/>
              <a:t>with left aligned text over multiple lines. Try to keep</a:t>
            </a:r>
            <a:br>
              <a:rPr lang="en-GB"/>
            </a:br>
            <a:r>
              <a:rPr lang="en-GB"/>
              <a:t>it to four lines if </a:t>
            </a:r>
            <a:r>
              <a:rPr lang="en-GB" err="1"/>
              <a:t>poss</a:t>
            </a:r>
            <a:r>
              <a:rPr lang="en-GB"/>
              <a:t> or five lines max.”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406466E-798B-BE4C-B09F-C1B1244AA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8000" y="4780883"/>
            <a:ext cx="7503849" cy="8969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Name Surname,</a:t>
            </a:r>
            <a:br>
              <a:rPr lang="en-GB"/>
            </a:br>
            <a:r>
              <a:rPr lang="en-GB"/>
              <a:t>Job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3FE3F0-85CD-934D-A3A3-CF2B78D73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A86FEEE-9136-D68E-6360-B4FDD6D91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7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E4EE10-8D4E-C85B-5620-784900182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43F37B1-1F8A-2CA4-9D19-C0E420FB42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7052" y="1673324"/>
            <a:ext cx="3461285" cy="658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Heading label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C90ABAC-E435-5C65-A8FA-9E315CE9DE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337CE4-9082-D695-8AD8-89148114E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7052" y="2331691"/>
            <a:ext cx="3461285" cy="311053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3869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E4EE10-8D4E-C85B-5620-784900182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BA16B251-D1BB-394C-319F-40E8F04D7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7052" y="1673324"/>
            <a:ext cx="3461285" cy="658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Heading label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C90ABAC-E435-5C65-A8FA-9E315CE9DE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42D69F-C459-8ECE-06A1-66E418FF3E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7052" y="2331691"/>
            <a:ext cx="3461285" cy="311053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5208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and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2196E5-15CA-15E3-1E10-32B3D19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52C93B3-5A12-5AAD-2ACF-93939EE7F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58B23E-2241-0C04-DC3A-1FCFC1EF8A2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7052" y="2331691"/>
            <a:ext cx="3461285" cy="311053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800" b="1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“Add quote text here”</a:t>
            </a:r>
          </a:p>
        </p:txBody>
      </p:sp>
    </p:spTree>
    <p:extLst>
      <p:ext uri="{BB962C8B-B14F-4D97-AF65-F5344CB8AC3E}">
        <p14:creationId xmlns:p14="http://schemas.microsoft.com/office/powerpoint/2010/main" val="284182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B4F947-0C85-DAF2-683C-40847EF7F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EA7B0BA1-E61A-5019-0AA4-5328CA2AB0E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22BD2E-E9C2-A15B-06FB-553974CDE6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7052" y="2331691"/>
            <a:ext cx="3461285" cy="311053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800" b="1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“Add quote text here”</a:t>
            </a:r>
          </a:p>
        </p:txBody>
      </p:sp>
    </p:spTree>
    <p:extLst>
      <p:ext uri="{BB962C8B-B14F-4D97-AF65-F5344CB8AC3E}">
        <p14:creationId xmlns:p14="http://schemas.microsoft.com/office/powerpoint/2010/main" val="12316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0C3909-1482-1013-E118-A2CE0A1D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3119AD-4AAB-8B34-F6C1-8D76F0D453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42" y="2242938"/>
            <a:ext cx="10515600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slide 1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932" y="3564000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19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eaker Heading1-Blue-DarkBlue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F6C2AD-0E53-2A94-6EDF-C2BC1C35E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1914" y="-121920"/>
            <a:ext cx="12408747" cy="697992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D1B5349-CF21-E9D2-92A0-6C58C15A04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688" y="2165645"/>
            <a:ext cx="10515600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</a:t>
            </a:r>
            <a:br>
              <a:rPr lang="en-US"/>
            </a:br>
            <a:r>
              <a:rPr lang="en-US"/>
              <a:t>slide 2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000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8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eaker Heading1-Blue-DarkBlue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D07C2D6-AB1B-B84B-BC13-7D79E8BCF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16318" y="-148043"/>
            <a:ext cx="12499929" cy="70312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06D8CC-65FF-0E59-2392-2C0EBC0605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7468" y="2165645"/>
            <a:ext cx="10515600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</a:t>
            </a:r>
            <a:br>
              <a:rPr lang="en-US"/>
            </a:br>
            <a:r>
              <a:rPr lang="en-US"/>
              <a:t>slide 3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1916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91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reaker Heading1-Blue-DarkBlue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6489-9A30-702B-3E26-D81845892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7468" y="2165645"/>
            <a:ext cx="10515600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</a:t>
            </a:r>
            <a:br>
              <a:rPr lang="en-US"/>
            </a:br>
            <a:r>
              <a:rPr lang="en-US"/>
              <a:t>slide 4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4598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5" name="Picture 4" descr="A blue rectangle with black background&#10;&#10;Description automatically generated">
            <a:extLst>
              <a:ext uri="{FF2B5EF4-FFF2-40B4-BE49-F238E27FC236}">
                <a16:creationId xmlns:a16="http://schemas.microsoft.com/office/drawing/2014/main" id="{D115B473-1B85-DD59-52BE-0E90A80C94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2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slide with image 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F456E7-F404-A541-B6E9-27C1B10EC6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pPr algn="r"/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355A0D-4235-0CF1-A976-C33D8CCCBF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1916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577A8-7F18-CBCC-319C-10DC2550A7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7468" y="2165645"/>
            <a:ext cx="4716354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</a:t>
            </a:r>
            <a:br>
              <a:rPr lang="en-US"/>
            </a:br>
            <a:r>
              <a:rPr lang="en-US"/>
              <a:t>slide 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84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ACCESSI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D92FD5-08EA-6BC8-29BC-BCF5EEFE1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-2509143" y="-71523"/>
            <a:ext cx="10768951" cy="7616239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077C56A3-4FFE-73CF-6F7F-1F451E5B3F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1045" y="364425"/>
            <a:ext cx="1208955" cy="9797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D383FB-0467-4241-BEF0-D636E8867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15926" y="2605852"/>
            <a:ext cx="8651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390E57B-AF19-8642-9E47-AF887F52887B}"/>
              </a:ext>
            </a:extLst>
          </p:cNvPr>
          <p:cNvSpPr txBox="1"/>
          <p:nvPr userDrawn="1"/>
        </p:nvSpPr>
        <p:spPr>
          <a:xfrm>
            <a:off x="5610770" y="2808746"/>
            <a:ext cx="4343734" cy="2608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Thank You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	@nhsengland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	company/</a:t>
            </a:r>
            <a:r>
              <a:rPr kumimoji="0" lang="en-GB" sz="2400" b="1" i="0" u="none" strike="noStrike" kern="1200" cap="none" spc="2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nhsengland</a:t>
            </a:r>
            <a:endParaRPr kumimoji="0" lang="en-GB" sz="2400" b="1" i="0" u="none" strike="noStrike" kern="1200" cap="none" spc="2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england.nhs.uk</a:t>
            </a:r>
            <a:endParaRPr lang="en-GB" sz="2400" b="1">
              <a:solidFill>
                <a:schemeClr val="tx1"/>
              </a:solidFill>
            </a:endParaRPr>
          </a:p>
        </p:txBody>
      </p:sp>
      <p:pic>
        <p:nvPicPr>
          <p:cNvPr id="5" name="Picture 4" descr="Twitter symbol">
            <a:extLst>
              <a:ext uri="{FF2B5EF4-FFF2-40B4-BE49-F238E27FC236}">
                <a16:creationId xmlns:a16="http://schemas.microsoft.com/office/drawing/2014/main" id="{6C1B65D7-2EE6-F44F-85AA-7C93787926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72040" y="3665234"/>
            <a:ext cx="390144" cy="390144"/>
          </a:xfrm>
          <a:prstGeom prst="rect">
            <a:avLst/>
          </a:prstGeom>
        </p:spPr>
      </p:pic>
      <p:pic>
        <p:nvPicPr>
          <p:cNvPr id="8" name="Picture 7" descr="LinkedIn symbol">
            <a:extLst>
              <a:ext uri="{FF2B5EF4-FFF2-40B4-BE49-F238E27FC236}">
                <a16:creationId xmlns:a16="http://schemas.microsoft.com/office/drawing/2014/main" id="{F2843EE8-F6F8-9D40-92C1-94FB4DCF14B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885396" y="4266369"/>
            <a:ext cx="390144" cy="390144"/>
          </a:xfrm>
          <a:prstGeom prst="rect">
            <a:avLst/>
          </a:prstGeom>
        </p:spPr>
      </p:pic>
      <p:pic>
        <p:nvPicPr>
          <p:cNvPr id="72" name="Picture 96" descr="World-wide web symbol">
            <a:extLst>
              <a:ext uri="{FF2B5EF4-FFF2-40B4-BE49-F238E27FC236}">
                <a16:creationId xmlns:a16="http://schemas.microsoft.com/office/drawing/2014/main" id="{664BA24D-FA8C-EE4D-A2DC-491BF11D6FA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767074" y="4806522"/>
            <a:ext cx="600075" cy="6000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52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310075"/>
            <a:ext cx="11404154" cy="4267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B4B32-B7B7-DB40-9D0C-2D4D8414C6EC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3715D-C90E-7C4B-B312-C707773A39DD}"/>
              </a:ext>
            </a:extLst>
          </p:cNvPr>
          <p:cNvSpPr txBox="1"/>
          <p:nvPr userDrawn="1"/>
        </p:nvSpPr>
        <p:spPr>
          <a:xfrm>
            <a:off x="2232561" y="31707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7E920E-FCD4-834F-9787-A19C03BDF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055424E-84DC-71BA-CBB2-BE0007D93C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B2922A9-9C8F-43B1-7D0A-0C7761EE4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1" y="767200"/>
            <a:ext cx="11012644" cy="577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</p:spTree>
    <p:extLst>
      <p:ext uri="{BB962C8B-B14F-4D97-AF65-F5344CB8AC3E}">
        <p14:creationId xmlns:p14="http://schemas.microsoft.com/office/powerpoint/2010/main" val="11083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ont title slide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598E9D71-498A-0294-DB92-FA8A45963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0720" y="-508517"/>
            <a:ext cx="11319578" cy="80056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D054BE-B63C-B248-A010-D04767679C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000" y="1002268"/>
            <a:ext cx="4643853" cy="250769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5400" b="1" spc="-3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3AB80-4EA2-FC4A-9654-92EF4DFF4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00" y="3600000"/>
            <a:ext cx="7973051" cy="102496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0857E-40D1-074A-8CBC-E3E38E69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002280" cy="365125"/>
          </a:xfrm>
          <a:prstGeom prst="rect">
            <a:avLst/>
          </a:prstGeom>
        </p:spPr>
        <p:txBody>
          <a:bodyPr/>
          <a:lstStyle/>
          <a:p>
            <a:fld id="{B8B67EA4-DCE3-FB49-A794-A4595EF638BC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1DEB39-6B31-D948-AF21-75D8DF423B1B}"/>
              </a:ext>
            </a:extLst>
          </p:cNvPr>
          <p:cNvSpPr txBox="1"/>
          <p:nvPr userDrawn="1"/>
        </p:nvSpPr>
        <p:spPr>
          <a:xfrm>
            <a:off x="3225114" y="60177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8E63D1E-5669-124C-90CA-03B13A7D7A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5760000"/>
            <a:ext cx="6259513" cy="4889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357188" indent="0">
              <a:buNone/>
              <a:defRPr>
                <a:solidFill>
                  <a:schemeClr val="accent2"/>
                </a:solidFill>
              </a:defRPr>
            </a:lvl2pPr>
            <a:lvl3pPr marL="714375" indent="0">
              <a:buNone/>
              <a:defRPr>
                <a:solidFill>
                  <a:schemeClr val="accent2"/>
                </a:solidFill>
              </a:defRPr>
            </a:lvl3pPr>
            <a:lvl4pPr marL="1081087" indent="0">
              <a:buNone/>
              <a:defRPr>
                <a:solidFill>
                  <a:schemeClr val="accent2"/>
                </a:solidFill>
              </a:defRPr>
            </a:lvl4pPr>
            <a:lvl5pPr marL="1438275" indent="0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2A1D7-0D87-D844-942F-FEAD20579184}"/>
              </a:ext>
            </a:extLst>
          </p:cNvPr>
          <p:cNvSpPr txBox="1"/>
          <p:nvPr userDrawn="1"/>
        </p:nvSpPr>
        <p:spPr>
          <a:xfrm>
            <a:off x="9233452" y="5486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28D04FEF-6120-D9DF-6018-2393FD137B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1045" y="364425"/>
            <a:ext cx="1208955" cy="97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1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E947E-1F3C-4CE2-B205-42ACABCDF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187EB-CD8C-4429-80A8-057E397FF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8BCC8-525B-41FD-8646-596B1960C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574AD-8404-48D7-8DB8-BCC9125C3396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564A6-47BB-43DB-A152-9E1555760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3BD63-EE18-4132-8F91-68A0A2C0D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67EA4-DCE3-FB49-A794-A4595EF638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0448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33" r:id="rId2"/>
    <p:sldLayoutId id="2147483834" r:id="rId3"/>
    <p:sldLayoutId id="2147483826" r:id="rId4"/>
    <p:sldLayoutId id="2147483827" r:id="rId5"/>
    <p:sldLayoutId id="2147483789" r:id="rId6"/>
    <p:sldLayoutId id="2147483818" r:id="rId7"/>
    <p:sldLayoutId id="2147483813" r:id="rId8"/>
    <p:sldLayoutId id="2147483814" r:id="rId9"/>
    <p:sldLayoutId id="2147483815" r:id="rId10"/>
    <p:sldLayoutId id="2147483719" r:id="rId11"/>
    <p:sldLayoutId id="2147483938" r:id="rId12"/>
    <p:sldLayoutId id="2147483939" r:id="rId13"/>
    <p:sldLayoutId id="2147483933" r:id="rId14"/>
    <p:sldLayoutId id="2147483824" r:id="rId15"/>
    <p:sldLayoutId id="2147483926" r:id="rId16"/>
    <p:sldLayoutId id="2147483927" r:id="rId17"/>
    <p:sldLayoutId id="2147483929" r:id="rId18"/>
    <p:sldLayoutId id="2147483928" r:id="rId19"/>
    <p:sldLayoutId id="2147483930" r:id="rId20"/>
    <p:sldLayoutId id="2147483924" r:id="rId21"/>
    <p:sldLayoutId id="2147483940" r:id="rId22"/>
    <p:sldLayoutId id="2147483941" r:id="rId2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99A9-ADAE-F54A-B49E-F294E7BCE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000" y="1633204"/>
            <a:ext cx="5209848" cy="2507695"/>
          </a:xfrm>
        </p:spPr>
        <p:txBody>
          <a:bodyPr/>
          <a:lstStyle/>
          <a:p>
            <a:r>
              <a:rPr lang="en-GB" sz="4800"/>
              <a:t>GitHub</a:t>
            </a:r>
            <a:br>
              <a:rPr lang="en-GB" sz="4800"/>
            </a:br>
            <a:r>
              <a:rPr lang="en-GB" sz="3600">
                <a:cs typeface="Arial"/>
              </a:rPr>
              <a:t>Ways of Working Recap</a:t>
            </a:r>
            <a:br>
              <a:rPr lang="en-GB" sz="3600"/>
            </a:br>
            <a:br>
              <a:rPr lang="en-GB" sz="3600"/>
            </a:br>
            <a:r>
              <a:rPr lang="en-GB" sz="2800"/>
              <a:t>Sep 25</a:t>
            </a:r>
            <a:endParaRPr lang="en-GB" sz="4800">
              <a:solidFill>
                <a:schemeClr val="accent6"/>
              </a:solidFill>
              <a:cs typeface="Arial" panose="020B0604020202020204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63B5F-2944-6B41-9332-74DB2CCA6F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5760000"/>
            <a:ext cx="6259513" cy="59267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GB">
                <a:solidFill>
                  <a:schemeClr val="accent1"/>
                </a:solidFill>
              </a:rPr>
              <a:t>South East Data &amp; Analytics Team</a:t>
            </a:r>
          </a:p>
          <a:p>
            <a:pPr>
              <a:lnSpc>
                <a:spcPct val="120000"/>
              </a:lnSpc>
            </a:pPr>
            <a:r>
              <a:rPr lang="en-GB" b="1">
                <a:solidFill>
                  <a:schemeClr val="accent1"/>
                </a:solidFill>
              </a:rPr>
              <a:t>england.datasouth@nhs.net</a:t>
            </a:r>
          </a:p>
        </p:txBody>
      </p:sp>
      <p:sp>
        <p:nvSpPr>
          <p:cNvPr id="4" name="IG">
            <a:extLst>
              <a:ext uri="{FF2B5EF4-FFF2-40B4-BE49-F238E27FC236}">
                <a16:creationId xmlns:a16="http://schemas.microsoft.com/office/drawing/2014/main" id="{2F78A365-2298-9C53-4BAA-8000DBFE2D97}"/>
              </a:ext>
            </a:extLst>
          </p:cNvPr>
          <p:cNvSpPr txBox="1"/>
          <p:nvPr/>
        </p:nvSpPr>
        <p:spPr>
          <a:xfrm>
            <a:off x="354705" y="6499337"/>
            <a:ext cx="60585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All data is for management information purposes and is not for wider circulation or publication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A5A5A5">
                  <a:lumMod val="60000"/>
                  <a:lumOff val="40000"/>
                </a:srgbClr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23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DD8D-B017-7E8F-39AC-886A9C3E3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>
            <a:extLst>
              <a:ext uri="{FF2B5EF4-FFF2-40B4-BE49-F238E27FC236}">
                <a16:creationId xmlns:a16="http://schemas.microsoft.com/office/drawing/2014/main" id="{8035F835-C5EB-A3EF-3D0E-1665F1ADC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Ways of working session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6BE2A4-4B3A-CDFE-47F1-13BB4D023426}"/>
              </a:ext>
            </a:extLst>
          </p:cNvPr>
          <p:cNvSpPr txBox="1"/>
          <p:nvPr/>
        </p:nvSpPr>
        <p:spPr>
          <a:xfrm>
            <a:off x="581999" y="1073713"/>
            <a:ext cx="11390545" cy="67197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200"/>
              </a:spcAft>
              <a:buAutoNum type="arabicPeriod"/>
            </a:pPr>
            <a:r>
              <a:rPr lang="en-GB"/>
              <a:t>What</a:t>
            </a:r>
            <a:r>
              <a:rPr lang="en-GB">
                <a:solidFill>
                  <a:srgbClr val="C7A3DA"/>
                </a:solidFill>
              </a:rPr>
              <a:t> </a:t>
            </a:r>
            <a:r>
              <a:rPr lang="en-GB"/>
              <a:t>are the </a:t>
            </a:r>
            <a:r>
              <a:rPr lang="en-GB" b="1">
                <a:solidFill>
                  <a:srgbClr val="B587CF"/>
                </a:solidFill>
              </a:rPr>
              <a:t>general principles</a:t>
            </a:r>
            <a:r>
              <a:rPr lang="en-GB">
                <a:solidFill>
                  <a:srgbClr val="B587CF"/>
                </a:solidFill>
              </a:rPr>
              <a:t> </a:t>
            </a:r>
            <a:r>
              <a:rPr lang="en-GB" b="1">
                <a:solidFill>
                  <a:srgbClr val="B587CF"/>
                </a:solidFill>
              </a:rPr>
              <a:t>/ key concepts </a:t>
            </a:r>
            <a:r>
              <a:rPr lang="en-GB"/>
              <a:t>of using GitHub that we want to work to? </a:t>
            </a:r>
          </a:p>
          <a:p>
            <a:pPr marL="342900" indent="-342900">
              <a:spcAft>
                <a:spcPts val="200"/>
              </a:spcAft>
              <a:buAutoNum type="arabicPeriod"/>
            </a:pPr>
            <a:r>
              <a:rPr lang="en-GB"/>
              <a:t>What are the things we want to </a:t>
            </a:r>
            <a:r>
              <a:rPr lang="en-GB" b="1">
                <a:solidFill>
                  <a:srgbClr val="FFC000"/>
                </a:solidFill>
              </a:rPr>
              <a:t>Start</a:t>
            </a:r>
            <a:r>
              <a:rPr lang="en-GB" b="1"/>
              <a:t>, </a:t>
            </a:r>
            <a:r>
              <a:rPr lang="en-GB" b="1">
                <a:solidFill>
                  <a:srgbClr val="92D050"/>
                </a:solidFill>
              </a:rPr>
              <a:t>Stop</a:t>
            </a:r>
            <a:r>
              <a:rPr lang="en-GB" b="1"/>
              <a:t>, </a:t>
            </a:r>
            <a:r>
              <a:rPr lang="en-GB" b="1">
                <a:solidFill>
                  <a:srgbClr val="E78DC0"/>
                </a:solidFill>
              </a:rPr>
              <a:t>Continue</a:t>
            </a:r>
            <a:r>
              <a:rPr lang="en-GB" b="1">
                <a:solidFill>
                  <a:srgbClr val="EA99C7"/>
                </a:solidFill>
              </a:rPr>
              <a:t> </a:t>
            </a:r>
            <a:r>
              <a:rPr lang="en-GB"/>
              <a:t>doing when using GitHub?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92FC0C-53CD-4504-B127-14BB2CFE97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84"/>
          <a:stretch>
            <a:fillRect/>
          </a:stretch>
        </p:blipFill>
        <p:spPr>
          <a:xfrm>
            <a:off x="2337306" y="1745692"/>
            <a:ext cx="6444555" cy="452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6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73A00-A9F0-0428-D600-0E372752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>
            <a:extLst>
              <a:ext uri="{FF2B5EF4-FFF2-40B4-BE49-F238E27FC236}">
                <a16:creationId xmlns:a16="http://schemas.microsoft.com/office/drawing/2014/main" id="{70355CB8-9800-15C1-1A9D-5D9D33B9B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4 team principles for using GitHub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DD97A5-2553-7891-73EB-346FE04E8A2C}"/>
              </a:ext>
            </a:extLst>
          </p:cNvPr>
          <p:cNvSpPr/>
          <p:nvPr/>
        </p:nvSpPr>
        <p:spPr>
          <a:xfrm>
            <a:off x="6344330" y="1447560"/>
            <a:ext cx="5383864" cy="460255"/>
          </a:xfrm>
          <a:prstGeom prst="rect">
            <a:avLst/>
          </a:prstGeom>
          <a:solidFill>
            <a:srgbClr val="005EB8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chemeClr val="bg1"/>
                </a:solidFill>
              </a:rPr>
              <a:t>We support our team to use GitHub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EB416A-A1D9-671E-7183-A3D5B002C8CC}"/>
              </a:ext>
            </a:extLst>
          </p:cNvPr>
          <p:cNvGrpSpPr/>
          <p:nvPr/>
        </p:nvGrpSpPr>
        <p:grpSpPr>
          <a:xfrm>
            <a:off x="321469" y="3734256"/>
            <a:ext cx="5405272" cy="2029914"/>
            <a:chOff x="4332495" y="843054"/>
            <a:chExt cx="3511016" cy="202991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2998EAF-866A-516F-C6C2-FFE077B1F91C}"/>
                </a:ext>
              </a:extLst>
            </p:cNvPr>
            <p:cNvSpPr/>
            <p:nvPr/>
          </p:nvSpPr>
          <p:spPr>
            <a:xfrm>
              <a:off x="4332495" y="843054"/>
              <a:ext cx="3511016" cy="460254"/>
            </a:xfrm>
            <a:prstGeom prst="rect">
              <a:avLst/>
            </a:prstGeom>
            <a:solidFill>
              <a:srgbClr val="005EB8"/>
            </a:solidFill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>
                  <a:solidFill>
                    <a:schemeClr val="bg1"/>
                  </a:solidFill>
                </a:rPr>
                <a:t>We standardise resources across the team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7D76F06-C22A-B8FF-CF1D-5E9B2E6EAE9E}"/>
                </a:ext>
              </a:extLst>
            </p:cNvPr>
            <p:cNvSpPr txBox="1"/>
            <p:nvPr/>
          </p:nvSpPr>
          <p:spPr>
            <a:xfrm>
              <a:off x="4337413" y="1303308"/>
              <a:ext cx="3503020" cy="15696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5EB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/>
                <a:t>We have a </a:t>
              </a:r>
              <a:r>
                <a:rPr lang="en-GB" sz="1600" b="1"/>
                <a:t>standard structure </a:t>
              </a:r>
              <a:r>
                <a:rPr lang="en-GB" sz="1600"/>
                <a:t>for all repositories and use </a:t>
              </a:r>
              <a:r>
                <a:rPr lang="en-GB" sz="1600" b="1"/>
                <a:t>shared code </a:t>
              </a:r>
              <a:r>
                <a:rPr lang="en-GB" sz="1600"/>
                <a:t>across the team. This includes: 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GB" sz="1600"/>
                <a:t>Repository template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GB" sz="1600"/>
                <a:t>Readme template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GB" sz="1600"/>
                <a:t>Shared code and functions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GB" sz="1600"/>
                <a:t>Repository naming conventions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46E754A-0DD9-E68C-4662-A61AAB6D68D4}"/>
              </a:ext>
            </a:extLst>
          </p:cNvPr>
          <p:cNvSpPr/>
          <p:nvPr/>
        </p:nvSpPr>
        <p:spPr>
          <a:xfrm>
            <a:off x="6338714" y="3732777"/>
            <a:ext cx="5377219" cy="460254"/>
          </a:xfrm>
          <a:prstGeom prst="rect">
            <a:avLst/>
          </a:prstGeom>
          <a:solidFill>
            <a:srgbClr val="00B9B8"/>
          </a:solidFill>
          <a:ln>
            <a:solidFill>
              <a:srgbClr val="00B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chemeClr val="bg1"/>
                </a:solidFill>
              </a:rPr>
              <a:t>Our ways of working align with the wider NHS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07A9CA-63DB-B61C-D094-C5A52E430CB7}"/>
              </a:ext>
            </a:extLst>
          </p:cNvPr>
          <p:cNvSpPr/>
          <p:nvPr/>
        </p:nvSpPr>
        <p:spPr>
          <a:xfrm>
            <a:off x="342877" y="1433861"/>
            <a:ext cx="5362454" cy="460254"/>
          </a:xfrm>
          <a:prstGeom prst="rect">
            <a:avLst/>
          </a:prstGeom>
          <a:solidFill>
            <a:srgbClr val="00B9B8"/>
          </a:solidFill>
          <a:ln>
            <a:solidFill>
              <a:srgbClr val="00B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chemeClr val="bg1"/>
                </a:solidFill>
              </a:rPr>
              <a:t>We use GitHub as the main source for all code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F35A53-7C38-B286-2981-028CE29A8492}"/>
              </a:ext>
            </a:extLst>
          </p:cNvPr>
          <p:cNvSpPr txBox="1"/>
          <p:nvPr/>
        </p:nvSpPr>
        <p:spPr>
          <a:xfrm>
            <a:off x="337200" y="1883687"/>
            <a:ext cx="5360109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00B9B8"/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/>
              <a:t>We have </a:t>
            </a:r>
            <a:r>
              <a:rPr lang="en-GB" sz="1600" b="1"/>
              <a:t>one version</a:t>
            </a:r>
            <a:r>
              <a:rPr lang="en-GB" sz="1600"/>
              <a:t> of our code, which is stored on GitHub. We do not save code in shared areas. GitHub is the </a:t>
            </a:r>
            <a:r>
              <a:rPr lang="en-GB" sz="1600" b="1"/>
              <a:t>‘organisational memory’ </a:t>
            </a:r>
            <a:r>
              <a:rPr lang="en-GB" sz="1600"/>
              <a:t>for all work; main is the production version for all our code, and we utilise branches for development work and QA.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45CE64-6398-3B74-0260-7B1F25005E3B}"/>
              </a:ext>
            </a:extLst>
          </p:cNvPr>
          <p:cNvSpPr/>
          <p:nvPr/>
        </p:nvSpPr>
        <p:spPr>
          <a:xfrm>
            <a:off x="97300" y="1265771"/>
            <a:ext cx="540963" cy="460254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B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>
                <a:solidFill>
                  <a:srgbClr val="00B9B8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D75722D-D1DE-BEE8-C8E1-8619CC79CD43}"/>
              </a:ext>
            </a:extLst>
          </p:cNvPr>
          <p:cNvSpPr/>
          <p:nvPr/>
        </p:nvSpPr>
        <p:spPr>
          <a:xfrm>
            <a:off x="90211" y="3566166"/>
            <a:ext cx="540963" cy="460254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5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rgbClr val="005EB8"/>
                </a:solidFill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347A7A2-B578-95B5-4345-5766561F7234}"/>
              </a:ext>
            </a:extLst>
          </p:cNvPr>
          <p:cNvSpPr/>
          <p:nvPr/>
        </p:nvSpPr>
        <p:spPr>
          <a:xfrm>
            <a:off x="6126675" y="1265771"/>
            <a:ext cx="540963" cy="460254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rgbClr val="005EB8"/>
                </a:solidFill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BAC911-326A-9A06-BDE0-25FC54AC4293}"/>
              </a:ext>
            </a:extLst>
          </p:cNvPr>
          <p:cNvSpPr/>
          <p:nvPr/>
        </p:nvSpPr>
        <p:spPr>
          <a:xfrm>
            <a:off x="6126674" y="3585754"/>
            <a:ext cx="540963" cy="460254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B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>
                <a:solidFill>
                  <a:srgbClr val="00B9B8"/>
                </a:solidFill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CA3DEC-E176-161D-8EE7-1D13E3331485}"/>
              </a:ext>
            </a:extLst>
          </p:cNvPr>
          <p:cNvSpPr/>
          <p:nvPr/>
        </p:nvSpPr>
        <p:spPr>
          <a:xfrm>
            <a:off x="6350976" y="1908015"/>
            <a:ext cx="5360109" cy="1299112"/>
          </a:xfrm>
          <a:prstGeom prst="rect">
            <a:avLst/>
          </a:prstGeom>
          <a:solidFill>
            <a:schemeClr val="bg1"/>
          </a:solidFill>
          <a:ln w="28575">
            <a:solidFill>
              <a:srgbClr val="005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We have </a:t>
            </a:r>
            <a:r>
              <a:rPr lang="en-GB" sz="1600" b="1">
                <a:solidFill>
                  <a:schemeClr val="tx1"/>
                </a:solidFill>
              </a:rPr>
              <a:t>clear</a:t>
            </a:r>
            <a:r>
              <a:rPr lang="en-GB" sz="1600">
                <a:solidFill>
                  <a:schemeClr val="tx1"/>
                </a:solidFill>
              </a:rPr>
              <a:t> and </a:t>
            </a:r>
            <a:r>
              <a:rPr lang="en-GB" sz="1600" b="1">
                <a:solidFill>
                  <a:schemeClr val="tx1"/>
                </a:solidFill>
              </a:rPr>
              <a:t>detailed documentation </a:t>
            </a:r>
            <a:r>
              <a:rPr lang="en-GB" sz="1600">
                <a:solidFill>
                  <a:schemeClr val="tx1"/>
                </a:solidFill>
              </a:rPr>
              <a:t>covering all elements of GitHub. </a:t>
            </a:r>
            <a:r>
              <a:rPr lang="en-GB" sz="1600"/>
              <a:t>We support each other to </a:t>
            </a:r>
            <a:r>
              <a:rPr lang="en-GB" sz="1600" b="1"/>
              <a:t>learn new things </a:t>
            </a:r>
            <a:r>
              <a:rPr lang="en-GB" sz="1600"/>
              <a:t>by offering training, drop-in sessions and having dedicated, team GitHub champions. </a:t>
            </a:r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CD480-329C-2917-CCA6-011EF791FF42}"/>
              </a:ext>
            </a:extLst>
          </p:cNvPr>
          <p:cNvSpPr/>
          <p:nvPr/>
        </p:nvSpPr>
        <p:spPr>
          <a:xfrm>
            <a:off x="6350974" y="4206632"/>
            <a:ext cx="5360111" cy="1569659"/>
          </a:xfrm>
          <a:prstGeom prst="rect">
            <a:avLst/>
          </a:prstGeom>
          <a:solidFill>
            <a:schemeClr val="bg1"/>
          </a:solidFill>
          <a:ln w="28575">
            <a:solidFill>
              <a:srgbClr val="00B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/>
              <a:t>Our ways of working align with the </a:t>
            </a:r>
            <a:r>
              <a:rPr lang="en-GB" sz="1600" b="1"/>
              <a:t>wider organisation</a:t>
            </a:r>
            <a:r>
              <a:rPr lang="en-GB" sz="1600"/>
              <a:t>. </a:t>
            </a:r>
          </a:p>
          <a:p>
            <a:pPr algn="ctr"/>
            <a:r>
              <a:rPr lang="en-GB" sz="1600"/>
              <a:t>We </a:t>
            </a:r>
            <a:r>
              <a:rPr lang="en-GB" sz="1600" b="1"/>
              <a:t>share</a:t>
            </a:r>
            <a:r>
              <a:rPr lang="en-GB" sz="1600"/>
              <a:t> our code with other NHSE teams and collaborate using GitHub where possible. We make repositories </a:t>
            </a:r>
            <a:r>
              <a:rPr lang="en-GB" sz="1600" b="1"/>
              <a:t>public</a:t>
            </a:r>
            <a:r>
              <a:rPr lang="en-GB" sz="1600"/>
              <a:t> where appropriate.</a:t>
            </a:r>
          </a:p>
        </p:txBody>
      </p:sp>
    </p:spTree>
    <p:extLst>
      <p:ext uri="{BB962C8B-B14F-4D97-AF65-F5344CB8AC3E}">
        <p14:creationId xmlns:p14="http://schemas.microsoft.com/office/powerpoint/2010/main" val="638987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DA9347FE-8783-9C9D-BF53-022C0CF8BBDC}"/>
              </a:ext>
            </a:extLst>
          </p:cNvPr>
          <p:cNvSpPr txBox="1"/>
          <p:nvPr/>
        </p:nvSpPr>
        <p:spPr>
          <a:xfrm>
            <a:off x="432000" y="1071003"/>
            <a:ext cx="11390545" cy="548868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GB" b="1"/>
              <a:t>GitHub by default 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800"/>
              <a:t>We have one version of our code which is stored on GitHub</a:t>
            </a:r>
            <a:r>
              <a:rPr lang="en-GB"/>
              <a:t>. </a:t>
            </a:r>
            <a:r>
              <a:rPr lang="en-GB" sz="1800"/>
              <a:t>We do not save code in shared areas (e.g. SharePoint). </a:t>
            </a:r>
            <a:endParaRPr lang="en-GB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We create one repository per project. 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We clone the GitHub repository to our personal areas rather than a shared area. 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The main branch on GitHub is the production version of our code (</a:t>
            </a:r>
            <a:r>
              <a:rPr lang="en-GB" err="1"/>
              <a:t>QA’d</a:t>
            </a:r>
            <a:r>
              <a:rPr lang="en-GB"/>
              <a:t> and ready to use).  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All code is available on GitHub; data, file paths, </a:t>
            </a:r>
            <a:r>
              <a:rPr lang="en-GB" err="1"/>
              <a:t>lakemart</a:t>
            </a:r>
            <a:r>
              <a:rPr lang="en-GB"/>
              <a:t> paths and outputs are hidden. </a:t>
            </a:r>
          </a:p>
          <a:p>
            <a:pPr>
              <a:spcAft>
                <a:spcPts val="200"/>
              </a:spcAft>
            </a:pPr>
            <a:endParaRPr lang="en-GB"/>
          </a:p>
          <a:p>
            <a:pPr>
              <a:spcAft>
                <a:spcPts val="200"/>
              </a:spcAft>
            </a:pPr>
            <a:r>
              <a:rPr lang="en-GB" b="1"/>
              <a:t>Making changes 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800"/>
              <a:t>GitHub is the ‘organisational memory’ for all work.</a:t>
            </a:r>
            <a:endParaRPr lang="en-GB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All development work is completed on a branch, with a new branch created for each significant update. 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We commit regularly and focus on committing small changes rather than large updates. </a:t>
            </a:r>
            <a:endParaRPr lang="en-GB" b="1"/>
          </a:p>
          <a:p>
            <a:pPr>
              <a:spcAft>
                <a:spcPts val="200"/>
              </a:spcAft>
            </a:pPr>
            <a:endParaRPr lang="en-GB" b="1"/>
          </a:p>
          <a:p>
            <a:pPr>
              <a:spcAft>
                <a:spcPts val="200"/>
              </a:spcAft>
            </a:pPr>
            <a:r>
              <a:rPr lang="en-GB" b="1"/>
              <a:t>QA &amp; code reviews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All work completed on a branch is </a:t>
            </a:r>
            <a:r>
              <a:rPr lang="en-GB" err="1"/>
              <a:t>QA’d</a:t>
            </a:r>
            <a:r>
              <a:rPr lang="en-GB"/>
              <a:t> before merging into main.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We do regular code reviews to support team development.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We use ‘Issues’ to aid QA and to log ideas for future iterations. </a:t>
            </a:r>
          </a:p>
          <a:p>
            <a:pPr>
              <a:spcAft>
                <a:spcPts val="200"/>
              </a:spcAft>
            </a:pP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C40AD8-6752-B863-B14D-6172584BA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12241"/>
            <a:ext cx="10129674" cy="865186"/>
          </a:xfrm>
        </p:spPr>
        <p:txBody>
          <a:bodyPr>
            <a:normAutofit fontScale="90000"/>
          </a:bodyPr>
          <a:lstStyle/>
          <a:p>
            <a:r>
              <a:rPr lang="en-GB" sz="3600" b="1">
                <a:solidFill>
                  <a:srgbClr val="00B9B8"/>
                </a:solidFill>
              </a:rPr>
              <a:t>1. We use GitHub as the main source for all code</a:t>
            </a:r>
            <a:endParaRPr lang="en-GB">
              <a:solidFill>
                <a:srgbClr val="00B9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2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49E3F-4223-EA50-3DF9-78F519A2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E8F686B-AA69-F0A3-1178-27C2D0DA51BE}"/>
              </a:ext>
            </a:extLst>
          </p:cNvPr>
          <p:cNvSpPr txBox="1">
            <a:spLocks/>
          </p:cNvSpPr>
          <p:nvPr/>
        </p:nvSpPr>
        <p:spPr>
          <a:xfrm>
            <a:off x="432000" y="312241"/>
            <a:ext cx="8825414" cy="8651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200">
                <a:solidFill>
                  <a:srgbClr val="005EB8"/>
                </a:solidFill>
              </a:rPr>
              <a:t>2. We support our team to use GitHub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E38AC7-31F9-0282-A144-0C62EC41BC04}"/>
              </a:ext>
            </a:extLst>
          </p:cNvPr>
          <p:cNvSpPr txBox="1"/>
          <p:nvPr/>
        </p:nvSpPr>
        <p:spPr>
          <a:xfrm>
            <a:off x="432000" y="1243833"/>
            <a:ext cx="11073245" cy="367280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GB" sz="1800" b="1"/>
              <a:t>Learning &amp; development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800"/>
              <a:t>We support each other to learn new things.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800"/>
              <a:t>We ensure everyone can start using GitHub, with training that starts from the basics of using GitHub. 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800"/>
              <a:t>We offer training in small, logical steps towards an end goal. 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800"/>
              <a:t>We offer regular drop-ins and have dedicated GitHub Champions that can be approached for extra support. </a:t>
            </a:r>
          </a:p>
          <a:p>
            <a:pPr>
              <a:spcAft>
                <a:spcPts val="200"/>
              </a:spcAft>
            </a:pPr>
            <a:endParaRPr lang="en-GB" sz="1800"/>
          </a:p>
          <a:p>
            <a:pPr>
              <a:spcAft>
                <a:spcPts val="200"/>
              </a:spcAft>
            </a:pPr>
            <a:endParaRPr lang="en-GB" sz="1800"/>
          </a:p>
          <a:p>
            <a:pPr>
              <a:spcAft>
                <a:spcPts val="200"/>
              </a:spcAft>
            </a:pPr>
            <a:r>
              <a:rPr lang="en-GB" b="1"/>
              <a:t>Team documentation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800">
                <a:solidFill>
                  <a:schemeClr val="tx1"/>
                </a:solidFill>
              </a:rPr>
              <a:t>We have clear and detailed guidance and documentation covering all elements of using GitHub.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Our training resources are thorough and assume no prior knowledge of GitHub. </a:t>
            </a:r>
            <a:endParaRPr lang="en-GB" sz="1800">
              <a:solidFill>
                <a:schemeClr val="tx1"/>
              </a:solidFill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We have easy to understand guides for non-coding members. </a:t>
            </a:r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795130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6DF73-D55C-7847-A22D-2866E689B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D059ED-B2D6-16F7-A176-9E63C291876C}"/>
              </a:ext>
            </a:extLst>
          </p:cNvPr>
          <p:cNvSpPr txBox="1"/>
          <p:nvPr/>
        </p:nvSpPr>
        <p:spPr>
          <a:xfrm>
            <a:off x="432000" y="1243833"/>
            <a:ext cx="11073245" cy="273921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GB" b="1"/>
              <a:t>Standardised repositories 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We have a standard SE repository template used for all repositories, which includes and ReadMe template, a standard .gitignore and licenses. </a:t>
            </a:r>
          </a:p>
          <a:p>
            <a:pPr marL="285750" lvl="2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We follow standardised naming conventions for all repositories.</a:t>
            </a:r>
          </a:p>
          <a:p>
            <a:pPr marL="0" lvl="2">
              <a:spcAft>
                <a:spcPts val="200"/>
              </a:spcAft>
            </a:pPr>
            <a:endParaRPr lang="en-GB"/>
          </a:p>
          <a:p>
            <a:pPr marL="0" lvl="2">
              <a:spcAft>
                <a:spcPts val="200"/>
              </a:spcAft>
            </a:pPr>
            <a:r>
              <a:rPr lang="en-GB" b="1"/>
              <a:t>Process standardisation</a:t>
            </a:r>
          </a:p>
          <a:p>
            <a:pPr marL="2857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We have shared functions that are used across the team.</a:t>
            </a:r>
          </a:p>
          <a:p>
            <a:pPr marL="2857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We have standardised processes, including commenting and QA’ing.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/>
              <a:t>We have a standardised process for moving a repository from private to public.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18711C8-6BFD-17FD-D879-C6CFFBEAA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12241"/>
            <a:ext cx="10129674" cy="865186"/>
          </a:xfrm>
        </p:spPr>
        <p:txBody>
          <a:bodyPr>
            <a:normAutofit/>
          </a:bodyPr>
          <a:lstStyle/>
          <a:p>
            <a:r>
              <a:rPr lang="en-GB" sz="3200" b="1">
                <a:solidFill>
                  <a:srgbClr val="00B9B8"/>
                </a:solidFill>
              </a:rPr>
              <a:t>3. We standardise resources across the team</a:t>
            </a:r>
            <a:endParaRPr lang="en-GB" sz="3200">
              <a:solidFill>
                <a:srgbClr val="00B9B8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F3060-E211-8B37-3C15-B06ED1AF016D}"/>
              </a:ext>
            </a:extLst>
          </p:cNvPr>
          <p:cNvSpPr txBox="1"/>
          <p:nvPr/>
        </p:nvSpPr>
        <p:spPr>
          <a:xfrm>
            <a:off x="375293" y="5255853"/>
            <a:ext cx="11073245" cy="92333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We follow best practice to ensure other NHSE teams understand our processes.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We share our code with other NHSE teams and collaborate using GitHub where possible.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We make repositories public where appropriate.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E41EB2D2-66AD-A136-77CD-DAA839EA70B5}"/>
              </a:ext>
            </a:extLst>
          </p:cNvPr>
          <p:cNvSpPr txBox="1">
            <a:spLocks/>
          </p:cNvSpPr>
          <p:nvPr/>
        </p:nvSpPr>
        <p:spPr>
          <a:xfrm>
            <a:off x="432000" y="4390667"/>
            <a:ext cx="10129674" cy="8651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200">
                <a:solidFill>
                  <a:srgbClr val="005EB8"/>
                </a:solidFill>
              </a:rPr>
              <a:t>4. Our ways of working align with the wider NHS</a:t>
            </a:r>
          </a:p>
        </p:txBody>
      </p:sp>
    </p:spTree>
    <p:extLst>
      <p:ext uri="{BB962C8B-B14F-4D97-AF65-F5344CB8AC3E}">
        <p14:creationId xmlns:p14="http://schemas.microsoft.com/office/powerpoint/2010/main" val="116415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45448-A5CA-7E15-8413-CF2C759D0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BF7AC79F-EB23-38AB-D796-B2CC0A251073}"/>
              </a:ext>
            </a:extLst>
          </p:cNvPr>
          <p:cNvGrpSpPr/>
          <p:nvPr/>
        </p:nvGrpSpPr>
        <p:grpSpPr>
          <a:xfrm>
            <a:off x="119766" y="881051"/>
            <a:ext cx="11866239" cy="5881109"/>
            <a:chOff x="97161" y="1020724"/>
            <a:chExt cx="11866239" cy="588110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9CF3052-2FAB-9E78-E3EE-8783E2A70D75}"/>
                </a:ext>
              </a:extLst>
            </p:cNvPr>
            <p:cNvSpPr/>
            <p:nvPr/>
          </p:nvSpPr>
          <p:spPr>
            <a:xfrm>
              <a:off x="1254773" y="1310640"/>
              <a:ext cx="2685731" cy="51059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8A4EA5A-2542-CB47-9A04-04B2BE3C35C0}"/>
                </a:ext>
              </a:extLst>
            </p:cNvPr>
            <p:cNvSpPr/>
            <p:nvPr/>
          </p:nvSpPr>
          <p:spPr>
            <a:xfrm>
              <a:off x="6669102" y="1321829"/>
              <a:ext cx="2692102" cy="50948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D129F7A-E6AC-B6F0-5506-53EF0EEFF319}"/>
                </a:ext>
              </a:extLst>
            </p:cNvPr>
            <p:cNvCxnSpPr>
              <a:cxnSpLocks/>
            </p:cNvCxnSpPr>
            <p:nvPr/>
          </p:nvCxnSpPr>
          <p:spPr>
            <a:xfrm>
              <a:off x="6669108" y="1327469"/>
              <a:ext cx="1" cy="5022036"/>
            </a:xfrm>
            <a:prstGeom prst="line">
              <a:avLst/>
            </a:prstGeom>
            <a:ln w="2857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261016-A757-0E44-878B-AE9D1EE26478}"/>
                </a:ext>
              </a:extLst>
            </p:cNvPr>
            <p:cNvCxnSpPr>
              <a:cxnSpLocks/>
            </p:cNvCxnSpPr>
            <p:nvPr/>
          </p:nvCxnSpPr>
          <p:spPr>
            <a:xfrm>
              <a:off x="9376405" y="1317778"/>
              <a:ext cx="1" cy="5022036"/>
            </a:xfrm>
            <a:prstGeom prst="line">
              <a:avLst/>
            </a:prstGeom>
            <a:ln w="2857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E7E8AF2-15F9-E5DF-D980-7D44B1ABDD5F}"/>
                </a:ext>
              </a:extLst>
            </p:cNvPr>
            <p:cNvCxnSpPr>
              <a:cxnSpLocks/>
            </p:cNvCxnSpPr>
            <p:nvPr/>
          </p:nvCxnSpPr>
          <p:spPr>
            <a:xfrm>
              <a:off x="3940504" y="1340348"/>
              <a:ext cx="0" cy="4977320"/>
            </a:xfrm>
            <a:prstGeom prst="line">
              <a:avLst/>
            </a:prstGeom>
            <a:ln w="2857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080C258-720C-553D-BADC-37E12DACDD5C}"/>
                </a:ext>
              </a:extLst>
            </p:cNvPr>
            <p:cNvGrpSpPr/>
            <p:nvPr/>
          </p:nvGrpSpPr>
          <p:grpSpPr>
            <a:xfrm>
              <a:off x="1254774" y="1020724"/>
              <a:ext cx="10708626" cy="595517"/>
              <a:chOff x="1254774" y="1177119"/>
              <a:chExt cx="10708626" cy="595517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1826441-0303-8B59-3435-7DDABB8B9D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4774" y="1476102"/>
                <a:ext cx="10708626" cy="776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0B9EE70-2ECA-BD85-B7D3-69599F4CCC86}"/>
                  </a:ext>
                </a:extLst>
              </p:cNvPr>
              <p:cNvSpPr/>
              <p:nvPr/>
            </p:nvSpPr>
            <p:spPr>
              <a:xfrm>
                <a:off x="7686703" y="1177119"/>
                <a:ext cx="656906" cy="579831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600">
                    <a:solidFill>
                      <a:schemeClr val="bg1"/>
                    </a:solidFill>
                  </a:rPr>
                  <a:t>Q3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7F63F5C-7021-2779-F4B4-9188AA494AD7}"/>
                  </a:ext>
                </a:extLst>
              </p:cNvPr>
              <p:cNvSpPr/>
              <p:nvPr/>
            </p:nvSpPr>
            <p:spPr>
              <a:xfrm>
                <a:off x="4990818" y="1192805"/>
                <a:ext cx="656906" cy="579831"/>
              </a:xfrm>
              <a:prstGeom prst="ellipse">
                <a:avLst/>
              </a:prstGeom>
              <a:solidFill>
                <a:srgbClr val="00B9B8"/>
              </a:solidFill>
              <a:ln>
                <a:solidFill>
                  <a:srgbClr val="00B9B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600">
                    <a:solidFill>
                      <a:schemeClr val="bg1"/>
                    </a:solidFill>
                  </a:rPr>
                  <a:t>Q2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A9B349E-B2C4-DA5B-6956-175113B152BE}"/>
                  </a:ext>
                </a:extLst>
              </p:cNvPr>
              <p:cNvSpPr/>
              <p:nvPr/>
            </p:nvSpPr>
            <p:spPr>
              <a:xfrm>
                <a:off x="10409202" y="1186186"/>
                <a:ext cx="656906" cy="579831"/>
              </a:xfrm>
              <a:prstGeom prst="ellipse">
                <a:avLst/>
              </a:prstGeom>
              <a:solidFill>
                <a:srgbClr val="00B9B8"/>
              </a:solidFill>
              <a:ln>
                <a:solidFill>
                  <a:srgbClr val="00B9B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600">
                    <a:solidFill>
                      <a:schemeClr val="bg1"/>
                    </a:solidFill>
                  </a:rPr>
                  <a:t>Q4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B3B33E-6031-0BE1-DACA-2DFFE4358A0C}"/>
                  </a:ext>
                </a:extLst>
              </p:cNvPr>
              <p:cNvSpPr/>
              <p:nvPr/>
            </p:nvSpPr>
            <p:spPr>
              <a:xfrm>
                <a:off x="2294934" y="1186186"/>
                <a:ext cx="656906" cy="579831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600">
                    <a:solidFill>
                      <a:schemeClr val="bg1"/>
                    </a:solidFill>
                  </a:rPr>
                  <a:t>Q1</a:t>
                </a:r>
              </a:p>
            </p:txBody>
          </p:sp>
        </p:grpSp>
        <p:sp>
          <p:nvSpPr>
            <p:cNvPr id="16" name="Title 3">
              <a:extLst>
                <a:ext uri="{FF2B5EF4-FFF2-40B4-BE49-F238E27FC236}">
                  <a16:creationId xmlns:a16="http://schemas.microsoft.com/office/drawing/2014/main" id="{4CC67354-4B0E-2D0A-1C51-A4B05C5FFD72}"/>
                </a:ext>
              </a:extLst>
            </p:cNvPr>
            <p:cNvSpPr txBox="1">
              <a:spLocks/>
            </p:cNvSpPr>
            <p:nvPr/>
          </p:nvSpPr>
          <p:spPr>
            <a:xfrm>
              <a:off x="175603" y="1340348"/>
              <a:ext cx="847968" cy="1175429"/>
            </a:xfrm>
            <a:prstGeom prst="rect">
              <a:avLst/>
            </a:prstGeom>
          </p:spPr>
          <p:txBody>
            <a:bodyPr vert="horz" lIns="0" tIns="0" rIns="0" bIns="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en-GB" sz="2400">
                  <a:solidFill>
                    <a:srgbClr val="005EB8"/>
                  </a:solidFill>
                </a:rPr>
                <a:t>Skills </a:t>
              </a:r>
            </a:p>
            <a:p>
              <a:pPr algn="ctr"/>
              <a:r>
                <a:rPr lang="en-GB" sz="2400">
                  <a:solidFill>
                    <a:srgbClr val="005EB8"/>
                  </a:solidFill>
                </a:rPr>
                <a:t>&amp; </a:t>
              </a:r>
            </a:p>
            <a:p>
              <a:r>
                <a:rPr lang="en-GB" sz="2400">
                  <a:solidFill>
                    <a:srgbClr val="005EB8"/>
                  </a:solidFill>
                </a:rPr>
                <a:t>WoW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CBD9A82-83C1-E7E6-C513-A469E7FFCD20}"/>
                </a:ext>
              </a:extLst>
            </p:cNvPr>
            <p:cNvCxnSpPr/>
            <p:nvPr/>
          </p:nvCxnSpPr>
          <p:spPr>
            <a:xfrm>
              <a:off x="119766" y="2737414"/>
              <a:ext cx="116104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E1C24E0-E63F-C97A-4FC0-BFBE445595F4}"/>
                </a:ext>
              </a:extLst>
            </p:cNvPr>
            <p:cNvSpPr/>
            <p:nvPr/>
          </p:nvSpPr>
          <p:spPr>
            <a:xfrm>
              <a:off x="1254770" y="1772744"/>
              <a:ext cx="2262475" cy="40829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/>
                <a:t>GitHub approach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E961B5B-8398-E250-2591-F80F6711E9DF}"/>
                </a:ext>
              </a:extLst>
            </p:cNvPr>
            <p:cNvSpPr/>
            <p:nvPr/>
          </p:nvSpPr>
          <p:spPr>
            <a:xfrm>
              <a:off x="3581400" y="1772744"/>
              <a:ext cx="5795006" cy="40829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/>
                <a:t>GitHub embedded into WoW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504D48-81B6-8834-766E-F9DF7A1C5F5D}"/>
                </a:ext>
              </a:extLst>
            </p:cNvPr>
            <p:cNvSpPr/>
            <p:nvPr/>
          </p:nvSpPr>
          <p:spPr>
            <a:xfrm>
              <a:off x="7977485" y="2265851"/>
              <a:ext cx="3687959" cy="40829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/>
                <a:t>Review existing code that is not on GitHub 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13BED6B-9762-81C1-5B29-4F3FC87FFABD}"/>
                </a:ext>
              </a:extLst>
            </p:cNvPr>
            <p:cNvGrpSpPr/>
            <p:nvPr/>
          </p:nvGrpSpPr>
          <p:grpSpPr>
            <a:xfrm>
              <a:off x="4125360" y="2816508"/>
              <a:ext cx="2357107" cy="2561748"/>
              <a:chOff x="4568962" y="2922782"/>
              <a:chExt cx="2709584" cy="2561748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F5CF03F-1E6C-77B6-F25C-D148BA9EF5D4}"/>
                  </a:ext>
                </a:extLst>
              </p:cNvPr>
              <p:cNvSpPr/>
              <p:nvPr/>
            </p:nvSpPr>
            <p:spPr>
              <a:xfrm>
                <a:off x="4568962" y="3395314"/>
                <a:ext cx="2709584" cy="2089216"/>
              </a:xfrm>
              <a:prstGeom prst="rect">
                <a:avLst/>
              </a:prstGeom>
              <a:ln w="28575">
                <a:solidFill>
                  <a:srgbClr val="00B9B8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>
                    <a:solidFill>
                      <a:schemeClr val="tx1"/>
                    </a:solidFill>
                  </a:rPr>
                  <a:t>Fully understand a git ignore and manage across multiple IDEs (e.g. R Studio, </a:t>
                </a:r>
                <a:r>
                  <a:rPr lang="en-GB" sz="1400" err="1">
                    <a:solidFill>
                      <a:schemeClr val="tx1"/>
                    </a:solidFill>
                  </a:rPr>
                  <a:t>DataBricks</a:t>
                </a:r>
                <a:r>
                  <a:rPr lang="en-GB" sz="1400">
                    <a:solidFill>
                      <a:schemeClr val="tx1"/>
                    </a:solidFill>
                  </a:rPr>
                  <a:t>, VS Code)</a:t>
                </a:r>
                <a:endParaRPr lang="en-GB" sz="1400" b="1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/>
                  <a:t>Create a pull request</a:t>
                </a:r>
                <a:endParaRPr lang="en-GB" sz="1400">
                  <a:cs typeface="Arial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/>
                  <a:t>Fetch / pull changes </a:t>
                </a:r>
                <a:endParaRPr lang="en-GB" sz="1400">
                  <a:cs typeface="Arial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/>
                  <a:t>Merge a pull request</a:t>
                </a:r>
                <a:endParaRPr lang="en-GB" sz="1400">
                  <a:cs typeface="Arial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E51117C-E4F8-B6F0-A6F5-8B36F682E08C}"/>
                  </a:ext>
                </a:extLst>
              </p:cNvPr>
              <p:cNvSpPr/>
              <p:nvPr/>
            </p:nvSpPr>
            <p:spPr>
              <a:xfrm>
                <a:off x="4568962" y="2922782"/>
                <a:ext cx="2709584" cy="472529"/>
              </a:xfrm>
              <a:prstGeom prst="rect">
                <a:avLst/>
              </a:prstGeom>
              <a:solidFill>
                <a:srgbClr val="00B9B8"/>
              </a:solidFill>
              <a:ln w="28575">
                <a:solidFill>
                  <a:srgbClr val="00B9B8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>
                    <a:solidFill>
                      <a:schemeClr val="bg1"/>
                    </a:solidFill>
                  </a:rPr>
                  <a:t>Milestone 2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6FB7DBF-A365-947B-561C-995D505CC956}"/>
                </a:ext>
              </a:extLst>
            </p:cNvPr>
            <p:cNvGrpSpPr/>
            <p:nvPr/>
          </p:nvGrpSpPr>
          <p:grpSpPr>
            <a:xfrm>
              <a:off x="1450124" y="2816508"/>
              <a:ext cx="2342746" cy="3386058"/>
              <a:chOff x="1395408" y="2904824"/>
              <a:chExt cx="2342746" cy="3386058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807986-3F8F-E29C-7523-51D6C4184BA9}"/>
                  </a:ext>
                </a:extLst>
              </p:cNvPr>
              <p:cNvSpPr txBox="1"/>
              <p:nvPr/>
            </p:nvSpPr>
            <p:spPr>
              <a:xfrm>
                <a:off x="1395408" y="3397782"/>
                <a:ext cx="2342746" cy="28931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5EB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1400"/>
                  <a:t>Log in to GitHub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1400"/>
                  <a:t>Navigate to SE team area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1400"/>
                  <a:t>Navigate to a SE repository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1400"/>
                  <a:t>Create a repository using the SE template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1400"/>
                  <a:t>Clone a repository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1400"/>
                  <a:t>Understand the basics of a git ignore (using SE template)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1400"/>
                  <a:t>Create a branch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1400"/>
                  <a:t>Make commits 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BF4F9D4-5635-9E11-46B5-20A0EE6D3540}"/>
                  </a:ext>
                </a:extLst>
              </p:cNvPr>
              <p:cNvSpPr/>
              <p:nvPr/>
            </p:nvSpPr>
            <p:spPr>
              <a:xfrm>
                <a:off x="1395408" y="2904824"/>
                <a:ext cx="2342746" cy="472529"/>
              </a:xfrm>
              <a:prstGeom prst="rect">
                <a:avLst/>
              </a:prstGeom>
              <a:solidFill>
                <a:srgbClr val="005EB8"/>
              </a:solidFill>
              <a:ln w="28575">
                <a:solidFill>
                  <a:srgbClr val="005EB8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>
                    <a:solidFill>
                      <a:schemeClr val="bg1"/>
                    </a:solidFill>
                  </a:rPr>
                  <a:t>Milestone 1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B361EEC-8E8F-1FB4-03BB-1D45998DD511}"/>
                </a:ext>
              </a:extLst>
            </p:cNvPr>
            <p:cNvGrpSpPr/>
            <p:nvPr/>
          </p:nvGrpSpPr>
          <p:grpSpPr>
            <a:xfrm>
              <a:off x="6836602" y="2816508"/>
              <a:ext cx="2357106" cy="1016178"/>
              <a:chOff x="1395411" y="2871158"/>
              <a:chExt cx="2694448" cy="1016178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0FB4E24-88FA-E435-A484-3A81FE9B0A62}"/>
                  </a:ext>
                </a:extLst>
              </p:cNvPr>
              <p:cNvSpPr txBox="1"/>
              <p:nvPr/>
            </p:nvSpPr>
            <p:spPr>
              <a:xfrm>
                <a:off x="1395411" y="3364116"/>
                <a:ext cx="2694448" cy="5232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5EB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/>
                  <a:t>Use GitHub for the QA process 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952FC27-4A92-A79E-3206-0F3735B7A27C}"/>
                  </a:ext>
                </a:extLst>
              </p:cNvPr>
              <p:cNvSpPr/>
              <p:nvPr/>
            </p:nvSpPr>
            <p:spPr>
              <a:xfrm>
                <a:off x="1395411" y="2871158"/>
                <a:ext cx="2694448" cy="486130"/>
              </a:xfrm>
              <a:prstGeom prst="rect">
                <a:avLst/>
              </a:prstGeom>
              <a:solidFill>
                <a:srgbClr val="005EB8"/>
              </a:solidFill>
              <a:ln w="28575">
                <a:solidFill>
                  <a:srgbClr val="005EB8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>
                    <a:solidFill>
                      <a:schemeClr val="bg1"/>
                    </a:solidFill>
                  </a:rPr>
                  <a:t>Milestone 3</a:t>
                </a:r>
              </a:p>
            </p:txBody>
          </p: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A06A30D-8FBA-47EC-9F0B-500D0CC092A4}"/>
                </a:ext>
              </a:extLst>
            </p:cNvPr>
            <p:cNvSpPr/>
            <p:nvPr/>
          </p:nvSpPr>
          <p:spPr>
            <a:xfrm>
              <a:off x="6084596" y="6322005"/>
              <a:ext cx="1173137" cy="5798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>
                  <a:solidFill>
                    <a:srgbClr val="FFC000"/>
                  </a:solidFill>
                </a:rPr>
                <a:t>Milestone 2 Deadline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4339E13-2390-01E9-5EE8-CCE01E68F4B7}"/>
                </a:ext>
              </a:extLst>
            </p:cNvPr>
            <p:cNvSpPr/>
            <p:nvPr/>
          </p:nvSpPr>
          <p:spPr>
            <a:xfrm>
              <a:off x="8789836" y="6322005"/>
              <a:ext cx="1173137" cy="5798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>
                  <a:solidFill>
                    <a:srgbClr val="FFC000"/>
                  </a:solidFill>
                </a:rPr>
                <a:t>Milestone 3 Deadline</a:t>
              </a:r>
            </a:p>
          </p:txBody>
        </p:sp>
        <p:sp>
          <p:nvSpPr>
            <p:cNvPr id="51" name="Title 3">
              <a:extLst>
                <a:ext uri="{FF2B5EF4-FFF2-40B4-BE49-F238E27FC236}">
                  <a16:creationId xmlns:a16="http://schemas.microsoft.com/office/drawing/2014/main" id="{054BA094-CE3F-7924-899D-AECC835E4B51}"/>
                </a:ext>
              </a:extLst>
            </p:cNvPr>
            <p:cNvSpPr txBox="1">
              <a:spLocks/>
            </p:cNvSpPr>
            <p:nvPr/>
          </p:nvSpPr>
          <p:spPr>
            <a:xfrm>
              <a:off x="97161" y="3016648"/>
              <a:ext cx="1025918" cy="2865557"/>
            </a:xfrm>
            <a:prstGeom prst="rect">
              <a:avLst/>
            </a:prstGeom>
          </p:spPr>
          <p:txBody>
            <a:bodyPr vert="horz" lIns="0" tIns="0" rIns="0" bIns="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en-GB" sz="2400">
                  <a:solidFill>
                    <a:srgbClr val="005EB8"/>
                  </a:solidFill>
                </a:rPr>
                <a:t>GitHub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AAF7E6-8D34-7FED-FC18-81610429E740}"/>
                </a:ext>
              </a:extLst>
            </p:cNvPr>
            <p:cNvSpPr/>
            <p:nvPr/>
          </p:nvSpPr>
          <p:spPr>
            <a:xfrm>
              <a:off x="3353936" y="6322005"/>
              <a:ext cx="1173137" cy="5798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>
                  <a:solidFill>
                    <a:srgbClr val="FFC000"/>
                  </a:solidFill>
                </a:rPr>
                <a:t>Milestone 1 Deadline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9D8E14F-3FE5-DB9F-0758-2F8B34BBC661}"/>
              </a:ext>
            </a:extLst>
          </p:cNvPr>
          <p:cNvSpPr/>
          <p:nvPr/>
        </p:nvSpPr>
        <p:spPr>
          <a:xfrm>
            <a:off x="5463717" y="5558284"/>
            <a:ext cx="2433132" cy="40829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rgbClr val="FFC000"/>
                </a:solidFill>
              </a:rPr>
              <a:t>All new code is on GitHub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24D2D3-17D5-9ED4-2062-470AC27C1CA8}"/>
              </a:ext>
            </a:extLst>
          </p:cNvPr>
          <p:cNvSpPr/>
          <p:nvPr/>
        </p:nvSpPr>
        <p:spPr>
          <a:xfrm>
            <a:off x="10743752" y="129423"/>
            <a:ext cx="304800" cy="230426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3468B6-5E6C-4B5D-BBF7-09B9AE4C722D}"/>
              </a:ext>
            </a:extLst>
          </p:cNvPr>
          <p:cNvSpPr txBox="1"/>
          <p:nvPr/>
        </p:nvSpPr>
        <p:spPr>
          <a:xfrm>
            <a:off x="11039316" y="120012"/>
            <a:ext cx="1044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/>
              <a:t>= Deadline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2667E9E-AB7B-A9FD-9EE4-53A62C3F44C9}"/>
              </a:ext>
            </a:extLst>
          </p:cNvPr>
          <p:cNvSpPr txBox="1">
            <a:spLocks/>
          </p:cNvSpPr>
          <p:nvPr/>
        </p:nvSpPr>
        <p:spPr>
          <a:xfrm>
            <a:off x="175182" y="-57169"/>
            <a:ext cx="4655436" cy="8651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/>
              <a:t>GitHub Milestones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5C7C3B-9AD8-25CE-5D00-60075F1D993E}"/>
              </a:ext>
            </a:extLst>
          </p:cNvPr>
          <p:cNvSpPr txBox="1"/>
          <p:nvPr/>
        </p:nvSpPr>
        <p:spPr>
          <a:xfrm>
            <a:off x="9565199" y="3175714"/>
            <a:ext cx="2357106" cy="1384995"/>
          </a:xfrm>
          <a:prstGeom prst="rect">
            <a:avLst/>
          </a:prstGeom>
          <a:solidFill>
            <a:schemeClr val="bg1"/>
          </a:solidFill>
          <a:ln w="28575">
            <a:solidFill>
              <a:srgbClr val="00B9B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Collaborating using GitHub (e.g., project boards)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Raise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Roll back changes to a previous version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29C567-EC46-F52A-8136-38E46E2D36CD}"/>
              </a:ext>
            </a:extLst>
          </p:cNvPr>
          <p:cNvSpPr/>
          <p:nvPr/>
        </p:nvSpPr>
        <p:spPr>
          <a:xfrm>
            <a:off x="9565199" y="2682756"/>
            <a:ext cx="2357106" cy="486130"/>
          </a:xfrm>
          <a:prstGeom prst="rect">
            <a:avLst/>
          </a:prstGeom>
          <a:solidFill>
            <a:srgbClr val="00B9B8"/>
          </a:solidFill>
          <a:ln w="28575">
            <a:solidFill>
              <a:srgbClr val="00B9B8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chemeClr val="bg1"/>
                </a:solidFill>
              </a:rPr>
              <a:t>Milestone 4</a:t>
            </a:r>
          </a:p>
        </p:txBody>
      </p:sp>
    </p:spTree>
    <p:extLst>
      <p:ext uri="{BB962C8B-B14F-4D97-AF65-F5344CB8AC3E}">
        <p14:creationId xmlns:p14="http://schemas.microsoft.com/office/powerpoint/2010/main" val="2670586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D23C2-26B3-51C1-2C4A-422769048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284F62E-4765-874D-DDDA-D4DD52B59EAA}"/>
              </a:ext>
            </a:extLst>
          </p:cNvPr>
          <p:cNvCxnSpPr>
            <a:cxnSpLocks/>
          </p:cNvCxnSpPr>
          <p:nvPr/>
        </p:nvCxnSpPr>
        <p:spPr>
          <a:xfrm flipV="1">
            <a:off x="6226089" y="5505815"/>
            <a:ext cx="207217" cy="297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CC9A9F2-121D-1977-ED12-C383E164A114}"/>
              </a:ext>
            </a:extLst>
          </p:cNvPr>
          <p:cNvCxnSpPr>
            <a:cxnSpLocks/>
          </p:cNvCxnSpPr>
          <p:nvPr/>
        </p:nvCxnSpPr>
        <p:spPr>
          <a:xfrm flipV="1">
            <a:off x="4556561" y="2633140"/>
            <a:ext cx="43487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A8CF06A-84AB-BBD3-6936-E02B03444B10}"/>
              </a:ext>
            </a:extLst>
          </p:cNvPr>
          <p:cNvGrpSpPr/>
          <p:nvPr/>
        </p:nvGrpSpPr>
        <p:grpSpPr>
          <a:xfrm>
            <a:off x="300253" y="633278"/>
            <a:ext cx="11649824" cy="6073035"/>
            <a:chOff x="313576" y="1020724"/>
            <a:chExt cx="11649824" cy="607303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124225A-46B5-4084-158A-D8D7928F7884}"/>
                </a:ext>
              </a:extLst>
            </p:cNvPr>
            <p:cNvSpPr/>
            <p:nvPr/>
          </p:nvSpPr>
          <p:spPr>
            <a:xfrm>
              <a:off x="1254773" y="1310641"/>
              <a:ext cx="2685731" cy="53404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FB09CF3-88E9-8189-6FB6-30C21A9D92D7}"/>
                </a:ext>
              </a:extLst>
            </p:cNvPr>
            <p:cNvSpPr/>
            <p:nvPr/>
          </p:nvSpPr>
          <p:spPr>
            <a:xfrm>
              <a:off x="6669102" y="1321829"/>
              <a:ext cx="2692102" cy="53128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41165B6-AEFD-96DE-200C-B87D4B2A4467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6665454" y="1553432"/>
              <a:ext cx="27470" cy="5540327"/>
            </a:xfrm>
            <a:prstGeom prst="line">
              <a:avLst/>
            </a:prstGeom>
            <a:ln w="2857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35B20E2-2101-A3E3-D00A-6D9E0D1B97FE}"/>
                </a:ext>
              </a:extLst>
            </p:cNvPr>
            <p:cNvCxnSpPr>
              <a:cxnSpLocks/>
              <a:endCxn id="31" idx="0"/>
            </p:cNvCxnSpPr>
            <p:nvPr/>
          </p:nvCxnSpPr>
          <p:spPr>
            <a:xfrm>
              <a:off x="9342722" y="1553432"/>
              <a:ext cx="55442" cy="5540327"/>
            </a:xfrm>
            <a:prstGeom prst="line">
              <a:avLst/>
            </a:prstGeom>
            <a:ln w="2857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98A8B65-1E06-63E7-8027-B88AA893CBF7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>
              <a:off x="3936850" y="1566311"/>
              <a:ext cx="25414" cy="5527448"/>
            </a:xfrm>
            <a:prstGeom prst="line">
              <a:avLst/>
            </a:prstGeom>
            <a:ln w="2857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69F176B-B6ED-5C62-CE02-FE50DA8D1E9F}"/>
                </a:ext>
              </a:extLst>
            </p:cNvPr>
            <p:cNvGrpSpPr/>
            <p:nvPr/>
          </p:nvGrpSpPr>
          <p:grpSpPr>
            <a:xfrm>
              <a:off x="1254774" y="1020724"/>
              <a:ext cx="10708626" cy="595517"/>
              <a:chOff x="1254774" y="1177119"/>
              <a:chExt cx="10708626" cy="595517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B4A1D0B-EF35-C9BA-B00D-C94A000F1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4774" y="1476102"/>
                <a:ext cx="10708626" cy="776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BD35D2D-53DC-EC59-38DD-A8B25C33C0F4}"/>
                  </a:ext>
                </a:extLst>
              </p:cNvPr>
              <p:cNvSpPr/>
              <p:nvPr/>
            </p:nvSpPr>
            <p:spPr>
              <a:xfrm>
                <a:off x="7686703" y="1177119"/>
                <a:ext cx="656906" cy="579831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600">
                    <a:solidFill>
                      <a:schemeClr val="bg1"/>
                    </a:solidFill>
                  </a:rPr>
                  <a:t>Q3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A424A2B-112D-1101-0E58-5BFACB13FEE6}"/>
                  </a:ext>
                </a:extLst>
              </p:cNvPr>
              <p:cNvSpPr/>
              <p:nvPr/>
            </p:nvSpPr>
            <p:spPr>
              <a:xfrm>
                <a:off x="4990818" y="1192805"/>
                <a:ext cx="656906" cy="579831"/>
              </a:xfrm>
              <a:prstGeom prst="ellipse">
                <a:avLst/>
              </a:prstGeom>
              <a:solidFill>
                <a:srgbClr val="00B9B8"/>
              </a:solidFill>
              <a:ln>
                <a:solidFill>
                  <a:srgbClr val="00B9B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600">
                    <a:solidFill>
                      <a:schemeClr val="bg1"/>
                    </a:solidFill>
                  </a:rPr>
                  <a:t>Q2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DCE35ED-9404-8B59-8C51-1E7CF62D4C2A}"/>
                  </a:ext>
                </a:extLst>
              </p:cNvPr>
              <p:cNvSpPr/>
              <p:nvPr/>
            </p:nvSpPr>
            <p:spPr>
              <a:xfrm>
                <a:off x="10409202" y="1186186"/>
                <a:ext cx="656906" cy="579831"/>
              </a:xfrm>
              <a:prstGeom prst="ellipse">
                <a:avLst/>
              </a:prstGeom>
              <a:solidFill>
                <a:srgbClr val="00B9B8"/>
              </a:solidFill>
              <a:ln>
                <a:solidFill>
                  <a:srgbClr val="00B9B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600">
                    <a:solidFill>
                      <a:schemeClr val="bg1"/>
                    </a:solidFill>
                  </a:rPr>
                  <a:t>Q4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5146DD6-F510-2180-221D-2B326A601F9C}"/>
                  </a:ext>
                </a:extLst>
              </p:cNvPr>
              <p:cNvSpPr/>
              <p:nvPr/>
            </p:nvSpPr>
            <p:spPr>
              <a:xfrm>
                <a:off x="2294934" y="1186186"/>
                <a:ext cx="656906" cy="579831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600">
                    <a:solidFill>
                      <a:schemeClr val="bg1"/>
                    </a:solidFill>
                  </a:rPr>
                  <a:t>Q1</a:t>
                </a:r>
              </a:p>
            </p:txBody>
          </p: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9E098D6-1C61-5D91-744C-DFAF82AEEEB7}"/>
                </a:ext>
              </a:extLst>
            </p:cNvPr>
            <p:cNvCxnSpPr>
              <a:cxnSpLocks/>
            </p:cNvCxnSpPr>
            <p:nvPr/>
          </p:nvCxnSpPr>
          <p:spPr>
            <a:xfrm>
              <a:off x="313576" y="2624666"/>
              <a:ext cx="11377198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" name="Title 3">
            <a:extLst>
              <a:ext uri="{FF2B5EF4-FFF2-40B4-BE49-F238E27FC236}">
                <a16:creationId xmlns:a16="http://schemas.microsoft.com/office/drawing/2014/main" id="{C1C7D0BE-E583-2487-0A03-6D89C33F5C70}"/>
              </a:ext>
            </a:extLst>
          </p:cNvPr>
          <p:cNvSpPr txBox="1">
            <a:spLocks/>
          </p:cNvSpPr>
          <p:nvPr/>
        </p:nvSpPr>
        <p:spPr>
          <a:xfrm>
            <a:off x="54569" y="1371512"/>
            <a:ext cx="1114746" cy="57578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1800">
                <a:solidFill>
                  <a:schemeClr val="accent6"/>
                </a:solidFill>
              </a:rPr>
              <a:t>Milestone 1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FD1A69D8-E048-54E2-4316-B54512610B1C}"/>
              </a:ext>
            </a:extLst>
          </p:cNvPr>
          <p:cNvSpPr txBox="1">
            <a:spLocks/>
          </p:cNvSpPr>
          <p:nvPr/>
        </p:nvSpPr>
        <p:spPr>
          <a:xfrm>
            <a:off x="54569" y="2708763"/>
            <a:ext cx="1114746" cy="57578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1800">
                <a:solidFill>
                  <a:schemeClr val="accent6"/>
                </a:solidFill>
              </a:rPr>
              <a:t>Milestone 2</a:t>
            </a: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937D818A-158A-6B8D-3FB6-9FADF4EF944E}"/>
              </a:ext>
            </a:extLst>
          </p:cNvPr>
          <p:cNvSpPr txBox="1">
            <a:spLocks/>
          </p:cNvSpPr>
          <p:nvPr/>
        </p:nvSpPr>
        <p:spPr>
          <a:xfrm>
            <a:off x="54569" y="4046014"/>
            <a:ext cx="1114746" cy="57578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1800">
                <a:solidFill>
                  <a:schemeClr val="accent6"/>
                </a:solidFill>
              </a:rPr>
              <a:t>Milestone 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F787D58-6FF1-435F-CF95-21CB41569AFC}"/>
              </a:ext>
            </a:extLst>
          </p:cNvPr>
          <p:cNvCxnSpPr>
            <a:cxnSpLocks/>
          </p:cNvCxnSpPr>
          <p:nvPr/>
        </p:nvCxnSpPr>
        <p:spPr>
          <a:xfrm>
            <a:off x="300253" y="3612774"/>
            <a:ext cx="1137719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C7363DF-D74C-FE49-1097-B5AA5FEF6AEA}"/>
              </a:ext>
            </a:extLst>
          </p:cNvPr>
          <p:cNvSpPr/>
          <p:nvPr/>
        </p:nvSpPr>
        <p:spPr>
          <a:xfrm>
            <a:off x="1245701" y="720403"/>
            <a:ext cx="937039" cy="405764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/>
              <a:t>1st </a:t>
            </a:r>
            <a:r>
              <a:rPr lang="en-GB" sz="1200"/>
              <a:t>team</a:t>
            </a:r>
            <a:r>
              <a:rPr lang="en-GB" sz="1100"/>
              <a:t> survey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02A0B2-ACAB-5AC0-43CF-DE5676AF35AF}"/>
              </a:ext>
            </a:extLst>
          </p:cNvPr>
          <p:cNvSpPr/>
          <p:nvPr/>
        </p:nvSpPr>
        <p:spPr>
          <a:xfrm>
            <a:off x="1329493" y="1296302"/>
            <a:ext cx="1722400" cy="561590"/>
          </a:xfrm>
          <a:prstGeom prst="rect">
            <a:avLst/>
          </a:prstGeom>
          <a:solidFill>
            <a:schemeClr val="bg1"/>
          </a:solidFill>
          <a:ln w="28575">
            <a:solidFill>
              <a:srgbClr val="00B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Intro to GitHub L&amp;D sessions (2)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78EB97-47AE-EEEC-04B5-F0D019EF1EDA}"/>
              </a:ext>
            </a:extLst>
          </p:cNvPr>
          <p:cNvSpPr/>
          <p:nvPr/>
        </p:nvSpPr>
        <p:spPr>
          <a:xfrm>
            <a:off x="3372242" y="732939"/>
            <a:ext cx="1028404" cy="408296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2nd team survey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11388B-0B27-B895-FFDA-4B84A4E29F6A}"/>
              </a:ext>
            </a:extLst>
          </p:cNvPr>
          <p:cNvSpPr/>
          <p:nvPr/>
        </p:nvSpPr>
        <p:spPr>
          <a:xfrm>
            <a:off x="3193194" y="1659222"/>
            <a:ext cx="1466228" cy="405154"/>
          </a:xfrm>
          <a:prstGeom prst="rect">
            <a:avLst/>
          </a:prstGeom>
          <a:solidFill>
            <a:schemeClr val="bg1"/>
          </a:solidFill>
          <a:ln w="28575">
            <a:solidFill>
              <a:srgbClr val="005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SLT session</a:t>
            </a:r>
            <a:r>
              <a:rPr lang="en-GB" sz="1400"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BD3ED5-B32F-11CC-2CA3-86C690D19D80}"/>
              </a:ext>
            </a:extLst>
          </p:cNvPr>
          <p:cNvSpPr/>
          <p:nvPr/>
        </p:nvSpPr>
        <p:spPr>
          <a:xfrm>
            <a:off x="6121536" y="732939"/>
            <a:ext cx="1028404" cy="408296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3rd team survey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EE26F6-CD31-F927-D023-2B024A8193BC}"/>
              </a:ext>
            </a:extLst>
          </p:cNvPr>
          <p:cNvSpPr/>
          <p:nvPr/>
        </p:nvSpPr>
        <p:spPr>
          <a:xfrm>
            <a:off x="8779187" y="715596"/>
            <a:ext cx="1028404" cy="408296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4th team survey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CE9D82-6E92-0D40-2F41-9F6E37838A9E}"/>
              </a:ext>
            </a:extLst>
          </p:cNvPr>
          <p:cNvSpPr/>
          <p:nvPr/>
        </p:nvSpPr>
        <p:spPr>
          <a:xfrm>
            <a:off x="6093032" y="6706313"/>
            <a:ext cx="1173137" cy="579828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rgbClr val="FFC000"/>
                </a:solidFill>
              </a:rPr>
              <a:t>Milestone 2 Deadline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C9EBC1-5968-4BE5-9A21-8F6BAA4857F8}"/>
              </a:ext>
            </a:extLst>
          </p:cNvPr>
          <p:cNvSpPr/>
          <p:nvPr/>
        </p:nvSpPr>
        <p:spPr>
          <a:xfrm>
            <a:off x="8798272" y="6706313"/>
            <a:ext cx="1173137" cy="579828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rgbClr val="FFC000"/>
                </a:solidFill>
              </a:rPr>
              <a:t>Milestone 3 Deadline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500360D-DE24-60C9-A51A-A4731ADE59B9}"/>
              </a:ext>
            </a:extLst>
          </p:cNvPr>
          <p:cNvSpPr/>
          <p:nvPr/>
        </p:nvSpPr>
        <p:spPr>
          <a:xfrm>
            <a:off x="3362372" y="6706313"/>
            <a:ext cx="1173137" cy="579828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rgbClr val="FFC000"/>
                </a:solidFill>
              </a:rPr>
              <a:t>Milestone 1 Deadline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41E843F-4A40-00C3-28B4-5B6D6702CFF9}"/>
              </a:ext>
            </a:extLst>
          </p:cNvPr>
          <p:cNvSpPr/>
          <p:nvPr/>
        </p:nvSpPr>
        <p:spPr>
          <a:xfrm>
            <a:off x="6957684" y="2859863"/>
            <a:ext cx="1811729" cy="626504"/>
          </a:xfrm>
          <a:prstGeom prst="rect">
            <a:avLst/>
          </a:prstGeom>
          <a:solidFill>
            <a:schemeClr val="bg1"/>
          </a:solidFill>
          <a:ln w="28575">
            <a:solidFill>
              <a:srgbClr val="00B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bg1">
                    <a:lumMod val="65000"/>
                  </a:schemeClr>
                </a:solidFill>
              </a:rPr>
              <a:t>Additional L&amp;D sessions as required</a:t>
            </a:r>
          </a:p>
          <a:p>
            <a:pPr algn="ctr"/>
            <a:r>
              <a:rPr lang="en-GB" sz="1100">
                <a:solidFill>
                  <a:schemeClr val="bg1">
                    <a:lumMod val="65000"/>
                  </a:schemeClr>
                </a:solidFill>
              </a:rPr>
              <a:t>*not needed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9C7CFE-2D9F-0A9F-165D-65AB7A35D670}"/>
              </a:ext>
            </a:extLst>
          </p:cNvPr>
          <p:cNvSpPr/>
          <p:nvPr/>
        </p:nvSpPr>
        <p:spPr>
          <a:xfrm>
            <a:off x="7770723" y="4102064"/>
            <a:ext cx="1358182" cy="718054"/>
          </a:xfrm>
          <a:prstGeom prst="rect">
            <a:avLst/>
          </a:prstGeom>
          <a:solidFill>
            <a:schemeClr val="bg1"/>
          </a:solidFill>
          <a:ln w="28575">
            <a:solidFill>
              <a:srgbClr val="00B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Rolling back changes L&amp;D session (1)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EB6506E-0287-AD12-86EF-03D9B927E732}"/>
              </a:ext>
            </a:extLst>
          </p:cNvPr>
          <p:cNvSpPr txBox="1">
            <a:spLocks/>
          </p:cNvSpPr>
          <p:nvPr/>
        </p:nvSpPr>
        <p:spPr>
          <a:xfrm>
            <a:off x="175182" y="-57169"/>
            <a:ext cx="4655436" cy="8651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/>
              <a:t>GitHub Milestones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101E9E-3626-9353-428C-CF882C775B59}"/>
              </a:ext>
            </a:extLst>
          </p:cNvPr>
          <p:cNvSpPr/>
          <p:nvPr/>
        </p:nvSpPr>
        <p:spPr>
          <a:xfrm>
            <a:off x="5004458" y="2296683"/>
            <a:ext cx="1413591" cy="637811"/>
          </a:xfrm>
          <a:prstGeom prst="rect">
            <a:avLst/>
          </a:prstGeom>
          <a:solidFill>
            <a:schemeClr val="bg1"/>
          </a:solidFill>
          <a:ln w="28575">
            <a:solidFill>
              <a:srgbClr val="00B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Git Ignore L&amp;D Session (1) </a:t>
            </a:r>
          </a:p>
          <a:p>
            <a:pPr algn="ctr"/>
            <a:r>
              <a:rPr lang="en-GB" sz="1100" i="1"/>
              <a:t>(August)*</a:t>
            </a:r>
            <a:endParaRPr lang="en-GB" sz="1400" i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D9C021-D6D8-3836-3447-D3ED6E3C1154}"/>
              </a:ext>
            </a:extLst>
          </p:cNvPr>
          <p:cNvSpPr/>
          <p:nvPr/>
        </p:nvSpPr>
        <p:spPr>
          <a:xfrm>
            <a:off x="5147282" y="3014512"/>
            <a:ext cx="1331440" cy="440527"/>
          </a:xfrm>
          <a:prstGeom prst="rect">
            <a:avLst/>
          </a:prstGeom>
          <a:solidFill>
            <a:schemeClr val="bg1"/>
          </a:solidFill>
          <a:ln w="28575">
            <a:solidFill>
              <a:srgbClr val="005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Review 2</a:t>
            </a:r>
            <a:r>
              <a:rPr lang="en-GB" sz="1400" baseline="30000"/>
              <a:t>nd</a:t>
            </a:r>
            <a:r>
              <a:rPr lang="en-GB" sz="1400"/>
              <a:t> survey results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D2B38A-DB67-1DF4-645E-D990D520C1A2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478722" y="3234775"/>
            <a:ext cx="43487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7C89A6E-F2E5-08AE-EE03-4457EC62FBB9}"/>
              </a:ext>
            </a:extLst>
          </p:cNvPr>
          <p:cNvSpPr/>
          <p:nvPr/>
        </p:nvSpPr>
        <p:spPr>
          <a:xfrm>
            <a:off x="3333596" y="2332310"/>
            <a:ext cx="1331440" cy="602634"/>
          </a:xfrm>
          <a:prstGeom prst="rect">
            <a:avLst/>
          </a:prstGeom>
          <a:solidFill>
            <a:schemeClr val="bg1"/>
          </a:solidFill>
          <a:ln w="28575">
            <a:solidFill>
              <a:srgbClr val="005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Git Ignore guidance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DE13A7-EA26-5A89-AC7F-FB3A60564092}"/>
              </a:ext>
            </a:extLst>
          </p:cNvPr>
          <p:cNvSpPr/>
          <p:nvPr/>
        </p:nvSpPr>
        <p:spPr>
          <a:xfrm>
            <a:off x="5813002" y="4128332"/>
            <a:ext cx="1638262" cy="681560"/>
          </a:xfrm>
          <a:prstGeom prst="rect">
            <a:avLst/>
          </a:prstGeom>
          <a:solidFill>
            <a:schemeClr val="bg1"/>
          </a:solidFill>
          <a:ln w="28575">
            <a:solidFill>
              <a:srgbClr val="00B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QASAR session L&amp;D session (1)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EFF81C-0CED-3E10-2754-32A8921698C4}"/>
              </a:ext>
            </a:extLst>
          </p:cNvPr>
          <p:cNvSpPr/>
          <p:nvPr/>
        </p:nvSpPr>
        <p:spPr>
          <a:xfrm>
            <a:off x="4581077" y="-246694"/>
            <a:ext cx="2275880" cy="61046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Specific question: Any new code since June which is </a:t>
            </a:r>
            <a:r>
              <a:rPr lang="en-GB" sz="1200" b="1"/>
              <a:t>not</a:t>
            </a:r>
            <a:r>
              <a:rPr lang="en-GB" sz="1200"/>
              <a:t> on GitHub?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46A68CD-CE83-B903-DCC3-0D25B26384A7}"/>
              </a:ext>
            </a:extLst>
          </p:cNvPr>
          <p:cNvCxnSpPr>
            <a:cxnSpLocks/>
            <a:stCxn id="18" idx="2"/>
            <a:endCxn id="25" idx="0"/>
          </p:cNvCxnSpPr>
          <p:nvPr/>
        </p:nvCxnSpPr>
        <p:spPr>
          <a:xfrm>
            <a:off x="5719017" y="363773"/>
            <a:ext cx="916721" cy="36916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ABD39A9-1560-AFC5-8C7B-1E2EEE73286A}"/>
              </a:ext>
            </a:extLst>
          </p:cNvPr>
          <p:cNvSpPr/>
          <p:nvPr/>
        </p:nvSpPr>
        <p:spPr>
          <a:xfrm>
            <a:off x="5607326" y="3664590"/>
            <a:ext cx="2980269" cy="378111"/>
          </a:xfrm>
          <a:prstGeom prst="rect">
            <a:avLst/>
          </a:prstGeom>
          <a:solidFill>
            <a:schemeClr val="bg1"/>
          </a:solidFill>
          <a:ln w="28575">
            <a:solidFill>
              <a:srgbClr val="005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Guidance for rolling back changes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8F3070-8DDD-B49F-3624-EA1A5A264DC0}"/>
              </a:ext>
            </a:extLst>
          </p:cNvPr>
          <p:cNvSpPr/>
          <p:nvPr/>
        </p:nvSpPr>
        <p:spPr>
          <a:xfrm>
            <a:off x="6418049" y="5331403"/>
            <a:ext cx="5268008" cy="355403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Implementation of GitHub champions / additional support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A46E47D-1EF9-CCFF-3156-638886AA2192}"/>
              </a:ext>
            </a:extLst>
          </p:cNvPr>
          <p:cNvSpPr/>
          <p:nvPr/>
        </p:nvSpPr>
        <p:spPr>
          <a:xfrm>
            <a:off x="3424759" y="5352082"/>
            <a:ext cx="2752618" cy="503534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Define role of GitHub champions and additional support offer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5D51318-0E87-E60B-8C28-4D4769A92860}"/>
              </a:ext>
            </a:extLst>
          </p:cNvPr>
          <p:cNvSpPr/>
          <p:nvPr/>
        </p:nvSpPr>
        <p:spPr>
          <a:xfrm>
            <a:off x="6794204" y="5858104"/>
            <a:ext cx="4883245" cy="347641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Code review sessions </a:t>
            </a:r>
          </a:p>
        </p:txBody>
      </p:sp>
      <p:sp>
        <p:nvSpPr>
          <p:cNvPr id="46" name="Title 3">
            <a:extLst>
              <a:ext uri="{FF2B5EF4-FFF2-40B4-BE49-F238E27FC236}">
                <a16:creationId xmlns:a16="http://schemas.microsoft.com/office/drawing/2014/main" id="{E3D88658-A692-7691-C0F8-9166124527CF}"/>
              </a:ext>
            </a:extLst>
          </p:cNvPr>
          <p:cNvSpPr txBox="1">
            <a:spLocks/>
          </p:cNvSpPr>
          <p:nvPr/>
        </p:nvSpPr>
        <p:spPr>
          <a:xfrm>
            <a:off x="-9964" y="5383265"/>
            <a:ext cx="1243813" cy="57578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1800">
                <a:solidFill>
                  <a:schemeClr val="accent6"/>
                </a:solidFill>
              </a:rPr>
              <a:t>Additional Tasks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0B2F381-6E8B-7A1A-ED0D-37415BC3FD80}"/>
              </a:ext>
            </a:extLst>
          </p:cNvPr>
          <p:cNvCxnSpPr>
            <a:cxnSpLocks/>
          </p:cNvCxnSpPr>
          <p:nvPr/>
        </p:nvCxnSpPr>
        <p:spPr>
          <a:xfrm>
            <a:off x="300253" y="4884869"/>
            <a:ext cx="1137719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6CDA5A52-F4A0-55FB-AD63-672FB01757D8}"/>
              </a:ext>
            </a:extLst>
          </p:cNvPr>
          <p:cNvSpPr/>
          <p:nvPr/>
        </p:nvSpPr>
        <p:spPr>
          <a:xfrm>
            <a:off x="3999315" y="4938810"/>
            <a:ext cx="7678135" cy="273993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Start sharing resources on Regional Coding Matrix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2E16EB7-5663-450E-EF31-419DC697AB6F}"/>
              </a:ext>
            </a:extLst>
          </p:cNvPr>
          <p:cNvGrpSpPr/>
          <p:nvPr/>
        </p:nvGrpSpPr>
        <p:grpSpPr>
          <a:xfrm>
            <a:off x="8418555" y="52904"/>
            <a:ext cx="3717410" cy="579956"/>
            <a:chOff x="8418555" y="10374"/>
            <a:chExt cx="3717410" cy="579956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A047EF2-2EDE-AC0D-D801-9910A2B98C0F}"/>
                </a:ext>
              </a:extLst>
            </p:cNvPr>
            <p:cNvSpPr/>
            <p:nvPr/>
          </p:nvSpPr>
          <p:spPr>
            <a:xfrm>
              <a:off x="10296868" y="342440"/>
              <a:ext cx="304800" cy="210727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0C57310-819E-917F-54EF-3DA4171CF0CC}"/>
                </a:ext>
              </a:extLst>
            </p:cNvPr>
            <p:cNvSpPr txBox="1"/>
            <p:nvPr/>
          </p:nvSpPr>
          <p:spPr>
            <a:xfrm>
              <a:off x="10592432" y="313331"/>
              <a:ext cx="10448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/>
                <a:t>= Deadline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0520798-0920-108E-9EF7-7D91249B461F}"/>
                </a:ext>
              </a:extLst>
            </p:cNvPr>
            <p:cNvSpPr/>
            <p:nvPr/>
          </p:nvSpPr>
          <p:spPr>
            <a:xfrm>
              <a:off x="8429187" y="333976"/>
              <a:ext cx="304800" cy="230426"/>
            </a:xfrm>
            <a:prstGeom prst="rect">
              <a:avLst/>
            </a:prstGeom>
            <a:solidFill>
              <a:srgbClr val="00B9B8"/>
            </a:solidFill>
            <a:ln>
              <a:solidFill>
                <a:srgbClr val="00B9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377C650-2263-11A8-A296-25508925EE44}"/>
                </a:ext>
              </a:extLst>
            </p:cNvPr>
            <p:cNvSpPr txBox="1"/>
            <p:nvPr/>
          </p:nvSpPr>
          <p:spPr>
            <a:xfrm>
              <a:off x="8717245" y="300638"/>
              <a:ext cx="13079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/>
                <a:t>= L&amp;D session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B87927A-5D2C-8421-980F-26A612F89A00}"/>
                </a:ext>
              </a:extLst>
            </p:cNvPr>
            <p:cNvSpPr/>
            <p:nvPr/>
          </p:nvSpPr>
          <p:spPr>
            <a:xfrm>
              <a:off x="8418555" y="17732"/>
              <a:ext cx="304800" cy="230426"/>
            </a:xfrm>
            <a:prstGeom prst="rect">
              <a:avLst/>
            </a:prstGeom>
            <a:solidFill>
              <a:srgbClr val="005EB8"/>
            </a:solidFill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B311355-A01C-3C51-512D-49F2E2C016A1}"/>
                </a:ext>
              </a:extLst>
            </p:cNvPr>
            <p:cNvSpPr txBox="1"/>
            <p:nvPr/>
          </p:nvSpPr>
          <p:spPr>
            <a:xfrm>
              <a:off x="8706612" y="10374"/>
              <a:ext cx="15236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/>
                <a:t>= Milestone tasks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9BF33BE-9E83-A81B-3550-9419E68CF269}"/>
                </a:ext>
              </a:extLst>
            </p:cNvPr>
            <p:cNvSpPr/>
            <p:nvPr/>
          </p:nvSpPr>
          <p:spPr>
            <a:xfrm>
              <a:off x="10296869" y="36692"/>
              <a:ext cx="304800" cy="23042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DDAC22D-47A4-860A-54F4-484FCB10FA3D}"/>
                </a:ext>
              </a:extLst>
            </p:cNvPr>
            <p:cNvSpPr txBox="1"/>
            <p:nvPr/>
          </p:nvSpPr>
          <p:spPr>
            <a:xfrm>
              <a:off x="10592432" y="27281"/>
              <a:ext cx="15435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/>
                <a:t>= Additional tasks</a:t>
              </a: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1B26E8F-5FC7-6C7E-B425-22B9AC16DB4E}"/>
              </a:ext>
            </a:extLst>
          </p:cNvPr>
          <p:cNvSpPr txBox="1"/>
          <p:nvPr/>
        </p:nvSpPr>
        <p:spPr>
          <a:xfrm>
            <a:off x="54569" y="6485042"/>
            <a:ext cx="1390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/>
              <a:t>* Provisional date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7DF2E54E-22B1-FE5B-CD49-E01C30A973FC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8587595" y="3853646"/>
            <a:ext cx="191592" cy="204990"/>
          </a:xfrm>
          <a:prstGeom prst="bentConnector2">
            <a:avLst/>
          </a:prstGeom>
          <a:ln w="19050">
            <a:solidFill>
              <a:srgbClr val="00308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DE0F888-2929-4F81-8693-36EB7061620F}"/>
              </a:ext>
            </a:extLst>
          </p:cNvPr>
          <p:cNvGrpSpPr/>
          <p:nvPr/>
        </p:nvGrpSpPr>
        <p:grpSpPr>
          <a:xfrm>
            <a:off x="2807159" y="1195503"/>
            <a:ext cx="332778" cy="335906"/>
            <a:chOff x="-2641374" y="2889370"/>
            <a:chExt cx="1501255" cy="1501255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9A179BD-73C6-E836-C46E-5C49A6A4F08E}"/>
                </a:ext>
              </a:extLst>
            </p:cNvPr>
            <p:cNvSpPr/>
            <p:nvPr/>
          </p:nvSpPr>
          <p:spPr>
            <a:xfrm>
              <a:off x="-2493219" y="3025441"/>
              <a:ext cx="1227127" cy="12306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4ED8982-4319-1CE2-7734-331B1EEF4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41374" y="2889370"/>
              <a:ext cx="1501255" cy="1501255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7EC242D-91AE-95DD-61F1-7B31A7EA84B0}"/>
              </a:ext>
            </a:extLst>
          </p:cNvPr>
          <p:cNvGrpSpPr/>
          <p:nvPr/>
        </p:nvGrpSpPr>
        <p:grpSpPr>
          <a:xfrm>
            <a:off x="7107728" y="25434"/>
            <a:ext cx="332778" cy="335906"/>
            <a:chOff x="-2641374" y="2889370"/>
            <a:chExt cx="1501255" cy="150125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6D655B8-083A-7970-32DC-D2F9D8594588}"/>
                </a:ext>
              </a:extLst>
            </p:cNvPr>
            <p:cNvSpPr/>
            <p:nvPr/>
          </p:nvSpPr>
          <p:spPr>
            <a:xfrm>
              <a:off x="-2493219" y="3025441"/>
              <a:ext cx="1227127" cy="12306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6FCCBC62-C852-4E6A-EF75-3DD805791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41374" y="2889370"/>
              <a:ext cx="1501255" cy="1501255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E51A3956-1D7D-71C8-D99F-01182C752C82}"/>
              </a:ext>
            </a:extLst>
          </p:cNvPr>
          <p:cNvSpPr txBox="1"/>
          <p:nvPr/>
        </p:nvSpPr>
        <p:spPr>
          <a:xfrm>
            <a:off x="7394845" y="52903"/>
            <a:ext cx="9957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/>
              <a:t>= Done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69C2D06-A958-DF8B-DC32-A01588D453B9}"/>
              </a:ext>
            </a:extLst>
          </p:cNvPr>
          <p:cNvGrpSpPr/>
          <p:nvPr/>
        </p:nvGrpSpPr>
        <p:grpSpPr>
          <a:xfrm>
            <a:off x="4477822" y="1513942"/>
            <a:ext cx="332778" cy="335906"/>
            <a:chOff x="-2641374" y="2889370"/>
            <a:chExt cx="1501255" cy="1501255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BFF841C-9E1B-54B7-08E6-973250C3C1F1}"/>
                </a:ext>
              </a:extLst>
            </p:cNvPr>
            <p:cNvSpPr/>
            <p:nvPr/>
          </p:nvSpPr>
          <p:spPr>
            <a:xfrm>
              <a:off x="-2493219" y="3025441"/>
              <a:ext cx="1227127" cy="12306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ADCAAF8-A78A-04E9-4C0D-826B5B909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41374" y="2889370"/>
              <a:ext cx="1501255" cy="1501255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E88C463-547F-559F-77E7-152E6855C395}"/>
              </a:ext>
            </a:extLst>
          </p:cNvPr>
          <p:cNvGrpSpPr/>
          <p:nvPr/>
        </p:nvGrpSpPr>
        <p:grpSpPr>
          <a:xfrm>
            <a:off x="4441218" y="2203035"/>
            <a:ext cx="332778" cy="335906"/>
            <a:chOff x="-2641374" y="2889370"/>
            <a:chExt cx="1501255" cy="1501255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26DB2EB-D7D9-F66B-11EF-A5DB074355D4}"/>
                </a:ext>
              </a:extLst>
            </p:cNvPr>
            <p:cNvSpPr/>
            <p:nvPr/>
          </p:nvSpPr>
          <p:spPr>
            <a:xfrm>
              <a:off x="-2493219" y="3025441"/>
              <a:ext cx="1227127" cy="12306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C0B99115-0F80-A2EF-C027-FACF8BB97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41374" y="2889370"/>
              <a:ext cx="1501255" cy="1501255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5663C522-FAB0-EBD3-2FEA-0E55ADC9E50A}"/>
              </a:ext>
            </a:extLst>
          </p:cNvPr>
          <p:cNvSpPr txBox="1"/>
          <p:nvPr/>
        </p:nvSpPr>
        <p:spPr>
          <a:xfrm>
            <a:off x="-2092031" y="5380408"/>
            <a:ext cx="1810938" cy="1815882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/>
              <a:t>GitHub ways of working – define naming conventions, saving repo link to SharePoint etc. Link in with governance and share with team.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ABFE4B8-A810-C5B9-63E5-B9D47C406F99}"/>
              </a:ext>
            </a:extLst>
          </p:cNvPr>
          <p:cNvSpPr/>
          <p:nvPr/>
        </p:nvSpPr>
        <p:spPr>
          <a:xfrm>
            <a:off x="4581077" y="6007418"/>
            <a:ext cx="1721150" cy="527714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GitHub Ways of Working </a:t>
            </a:r>
            <a:r>
              <a:rPr lang="en-GB" sz="1100" i="1"/>
              <a:t>(21</a:t>
            </a:r>
            <a:r>
              <a:rPr lang="en-GB" sz="1100" i="1" baseline="30000"/>
              <a:t>st</a:t>
            </a:r>
            <a:r>
              <a:rPr lang="en-GB" sz="1100" i="1"/>
              <a:t> August)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D7EB65F-A0D7-4CE1-E6BD-90F123D8A068}"/>
              </a:ext>
            </a:extLst>
          </p:cNvPr>
          <p:cNvGrpSpPr/>
          <p:nvPr/>
        </p:nvGrpSpPr>
        <p:grpSpPr>
          <a:xfrm>
            <a:off x="6258680" y="2937728"/>
            <a:ext cx="332778" cy="335906"/>
            <a:chOff x="-2641374" y="2889370"/>
            <a:chExt cx="1501255" cy="1501255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5C72CB3-9051-AD7B-FAAF-C1B726ADF124}"/>
                </a:ext>
              </a:extLst>
            </p:cNvPr>
            <p:cNvSpPr/>
            <p:nvPr/>
          </p:nvSpPr>
          <p:spPr>
            <a:xfrm>
              <a:off x="-2493219" y="3025441"/>
              <a:ext cx="1227127" cy="12306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24503AC1-C20D-F55D-1B64-B433E8E74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41374" y="2889370"/>
              <a:ext cx="1501255" cy="1501255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38F47F9-EFEE-3B68-D193-F565F95D9F30}"/>
              </a:ext>
            </a:extLst>
          </p:cNvPr>
          <p:cNvGrpSpPr/>
          <p:nvPr/>
        </p:nvGrpSpPr>
        <p:grpSpPr>
          <a:xfrm>
            <a:off x="6219106" y="2137566"/>
            <a:ext cx="332778" cy="335906"/>
            <a:chOff x="-2641374" y="2889370"/>
            <a:chExt cx="1501255" cy="1501255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16BC5B7-C75A-597A-6A2C-8A44387225F1}"/>
                </a:ext>
              </a:extLst>
            </p:cNvPr>
            <p:cNvSpPr/>
            <p:nvPr/>
          </p:nvSpPr>
          <p:spPr>
            <a:xfrm>
              <a:off x="-2493219" y="3025441"/>
              <a:ext cx="1227127" cy="12306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7F411116-9A38-9B6F-5985-43611E5CD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41374" y="2889370"/>
              <a:ext cx="1501255" cy="1501255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64F2728-77B5-D4A5-AC15-3AD1E3F9CEE5}"/>
              </a:ext>
            </a:extLst>
          </p:cNvPr>
          <p:cNvGrpSpPr/>
          <p:nvPr/>
        </p:nvGrpSpPr>
        <p:grpSpPr>
          <a:xfrm>
            <a:off x="6088309" y="5904377"/>
            <a:ext cx="332778" cy="335906"/>
            <a:chOff x="-2641374" y="2889370"/>
            <a:chExt cx="1501255" cy="1501255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870A790C-65C9-DBA5-4F0A-88BC4B3CB432}"/>
                </a:ext>
              </a:extLst>
            </p:cNvPr>
            <p:cNvSpPr/>
            <p:nvPr/>
          </p:nvSpPr>
          <p:spPr>
            <a:xfrm>
              <a:off x="-2493219" y="3025441"/>
              <a:ext cx="1227127" cy="12306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C060C6C3-4DD8-3E4C-F008-1CE47875E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41374" y="2889370"/>
              <a:ext cx="1501255" cy="1501255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A1ADCA2-B2EB-ACD9-B9E1-6FCDB34F0E93}"/>
              </a:ext>
            </a:extLst>
          </p:cNvPr>
          <p:cNvGrpSpPr/>
          <p:nvPr/>
        </p:nvGrpSpPr>
        <p:grpSpPr>
          <a:xfrm>
            <a:off x="5040063" y="4787008"/>
            <a:ext cx="332778" cy="335906"/>
            <a:chOff x="-2641374" y="2889370"/>
            <a:chExt cx="1501255" cy="1501255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B4B48C6-F2C1-AAB2-317B-B2AAAC02B233}"/>
                </a:ext>
              </a:extLst>
            </p:cNvPr>
            <p:cNvSpPr/>
            <p:nvPr/>
          </p:nvSpPr>
          <p:spPr>
            <a:xfrm>
              <a:off x="-2493219" y="3025441"/>
              <a:ext cx="1227127" cy="12306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882C9587-6468-9DA9-1566-ADA26CD0A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41374" y="2889370"/>
              <a:ext cx="1501255" cy="1501255"/>
            </a:xfrm>
            <a:prstGeom prst="rect">
              <a:avLst/>
            </a:prstGeom>
          </p:spPr>
        </p:pic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F5196DB-64F2-57EE-FEAA-DB156EFFD040}"/>
              </a:ext>
            </a:extLst>
          </p:cNvPr>
          <p:cNvGrpSpPr/>
          <p:nvPr/>
        </p:nvGrpSpPr>
        <p:grpSpPr>
          <a:xfrm>
            <a:off x="3260646" y="5215822"/>
            <a:ext cx="332778" cy="335906"/>
            <a:chOff x="-2641374" y="2889370"/>
            <a:chExt cx="1501255" cy="1501255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473FAB92-D7FB-12C0-F9D0-56D4D4A9F689}"/>
                </a:ext>
              </a:extLst>
            </p:cNvPr>
            <p:cNvSpPr/>
            <p:nvPr/>
          </p:nvSpPr>
          <p:spPr>
            <a:xfrm>
              <a:off x="-2493219" y="3025441"/>
              <a:ext cx="1227127" cy="12306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039A3846-DBB6-5898-097A-62EB69917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41374" y="2889370"/>
              <a:ext cx="1501255" cy="1501255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338D876-B1B1-1270-0153-99D170867FAD}"/>
              </a:ext>
            </a:extLst>
          </p:cNvPr>
          <p:cNvGrpSpPr/>
          <p:nvPr/>
        </p:nvGrpSpPr>
        <p:grpSpPr>
          <a:xfrm>
            <a:off x="11504935" y="5261725"/>
            <a:ext cx="332778" cy="335906"/>
            <a:chOff x="-2641374" y="2889370"/>
            <a:chExt cx="1501255" cy="1501255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6379C4A-2747-30C4-60D2-7CE9D464C2E5}"/>
                </a:ext>
              </a:extLst>
            </p:cNvPr>
            <p:cNvSpPr/>
            <p:nvPr/>
          </p:nvSpPr>
          <p:spPr>
            <a:xfrm>
              <a:off x="-2493219" y="3025441"/>
              <a:ext cx="1227127" cy="12306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BB5A5D7F-A942-5E04-08FD-07DBD22FC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41374" y="2889370"/>
              <a:ext cx="1501255" cy="15012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784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HSD-Refresh-Theme-NOV1120B">
  <a:themeElements>
    <a:clrScheme name="Custom 2">
      <a:dk1>
        <a:srgbClr val="FFFFFF"/>
      </a:dk1>
      <a:lt1>
        <a:srgbClr val="231F20"/>
      </a:lt1>
      <a:dk2>
        <a:srgbClr val="005EB8"/>
      </a:dk2>
      <a:lt2>
        <a:srgbClr val="F4F6F8"/>
      </a:lt2>
      <a:accent1>
        <a:srgbClr val="003087"/>
      </a:accent1>
      <a:accent2>
        <a:srgbClr val="768692"/>
      </a:accent2>
      <a:accent3>
        <a:srgbClr val="C7CED3"/>
      </a:accent3>
      <a:accent4>
        <a:srgbClr val="99DDEB"/>
      </a:accent4>
      <a:accent5>
        <a:srgbClr val="80D2CC"/>
      </a:accent5>
      <a:accent6>
        <a:srgbClr val="425563"/>
      </a:accent6>
      <a:hlink>
        <a:srgbClr val="005EB8"/>
      </a:hlink>
      <a:folHlink>
        <a:srgbClr val="0030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HSE Ppt Template" id="{FF88470C-2FD3-4E3A-A054-29EA9D5FA132}" vid="{FE9FC556-3568-42BD-A98C-E0B88106A2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67cd05-db79-4376-acf2-fd97aaab4b32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  <SharedWithUsers xmlns="19ad61a0-b527-4b3d-990a-302b4323a1c4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D7AEB253D84D40AB028D03AF2072F9" ma:contentTypeVersion="15" ma:contentTypeDescription="Create a new document." ma:contentTypeScope="" ma:versionID="533080eb3d138c6b968512a3d4390b59">
  <xsd:schema xmlns:xsd="http://www.w3.org/2001/XMLSchema" xmlns:xs="http://www.w3.org/2001/XMLSchema" xmlns:p="http://schemas.microsoft.com/office/2006/metadata/properties" xmlns:ns1="http://schemas.microsoft.com/sharepoint/v3" xmlns:ns2="5e67cd05-db79-4376-acf2-fd97aaab4b32" xmlns:ns3="19ad61a0-b527-4b3d-990a-302b4323a1c4" targetNamespace="http://schemas.microsoft.com/office/2006/metadata/properties" ma:root="true" ma:fieldsID="74a1b8877e881588c6cba42be517be8a" ns1:_="" ns2:_="" ns3:_="">
    <xsd:import namespace="http://schemas.microsoft.com/sharepoint/v3"/>
    <xsd:import namespace="5e67cd05-db79-4376-acf2-fd97aaab4b32"/>
    <xsd:import namespace="19ad61a0-b527-4b3d-990a-302b4323a1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67cd05-db79-4376-acf2-fd97aaab4b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c8d5fda-b97d-42c6-97e2-f76465e161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ad61a0-b527-4b3d-990a-302b4323a1c4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2B3C52-C4E5-4003-8240-632FDE102EAB}">
  <ds:schemaRefs>
    <ds:schemaRef ds:uri="19ad61a0-b527-4b3d-990a-302b4323a1c4"/>
    <ds:schemaRef ds:uri="5e67cd05-db79-4376-acf2-fd97aaab4b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7B6D4F5-ECA0-4A22-A4DD-3335756FD6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3C7D15-3262-4815-B898-4A46C51131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e67cd05-db79-4376-acf2-fd97aaab4b32"/>
    <ds:schemaRef ds:uri="19ad61a0-b527-4b3d-990a-302b4323a1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7c354b2-85b0-47f5-b222-07b48d774ee3}" enabled="0" method="" siteId="{37c354b2-85b0-47f5-b222-07b48d774e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NHSE Ppt Template</Template>
  <TotalTime>331</TotalTime>
  <Words>1079</Words>
  <Application>Microsoft Office PowerPoint</Application>
  <PresentationFormat>Widescreen</PresentationFormat>
  <Paragraphs>156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NHSD-Refresh-Theme-NOV1120B</vt:lpstr>
      <vt:lpstr>GitHub Ways of Working Recap  Sep 25</vt:lpstr>
      <vt:lpstr>Ways of working session</vt:lpstr>
      <vt:lpstr>4 team principles for using GitHub </vt:lpstr>
      <vt:lpstr>1. We use GitHub as the main source for all code</vt:lpstr>
      <vt:lpstr>PowerPoint Presentation</vt:lpstr>
      <vt:lpstr>3. We standardise resources across the team</vt:lpstr>
      <vt:lpstr>PowerPoint Presentation</vt:lpstr>
      <vt:lpstr>PowerPoint Presentation</vt:lpstr>
    </vt:vector>
  </TitlesOfParts>
  <Company>NHS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HOOK, Tom (NHS ENGLAND - X24)</dc:creator>
  <cp:lastModifiedBy>BLINCKO, Sarah (NHS ENGLAND)</cp:lastModifiedBy>
  <cp:revision>7</cp:revision>
  <dcterms:created xsi:type="dcterms:W3CDTF">2024-06-27T13:40:24Z</dcterms:created>
  <dcterms:modified xsi:type="dcterms:W3CDTF">2025-11-11T15:24:47Z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0x01010073D7AEB253D84D40AB028D03AF2072F9</vt:lpwstr>
  </property>
  <property fmtid="{D5CDD505-2E9C-101B-9397-08002B2CF9AE}" pid="3" name="_dlc_DocIdItemGuid">
    <vt:lpwstr>56579ddb-1cdf-4035-9a3d-2da04fab6c26</vt:lpwstr>
  </property>
  <property fmtid="{D5CDD505-2E9C-101B-9397-08002B2CF9AE}" pid="4" name="MediaServiceImageTags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